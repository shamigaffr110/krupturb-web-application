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</p:sldIdLst>
  <p:sldSz cy="6858000" cx="12192000"/>
  <p:notesSz cx="6858000" cy="9144000"/>
  <p:embeddedFontLst>
    <p:embeddedFont>
      <p:font typeface="Roboto Medium"/>
      <p:regular r:id="rId28"/>
      <p:bold r:id="rId29"/>
      <p:italic r:id="rId30"/>
      <p:boldItalic r:id="rId31"/>
    </p:embeddedFont>
    <p:embeddedFont>
      <p:font typeface="Roboto"/>
      <p:regular r:id="rId32"/>
      <p:bold r:id="rId33"/>
      <p:italic r:id="rId34"/>
      <p:boldItalic r:id="rId35"/>
    </p:embeddedFont>
    <p:embeddedFont>
      <p:font typeface="Inter SemiBold"/>
      <p:regular r:id="rId36"/>
      <p:bold r:id="rId37"/>
      <p:italic r:id="rId38"/>
      <p:boldItalic r:id="rId39"/>
    </p:embeddedFont>
    <p:embeddedFont>
      <p:font typeface="Inter"/>
      <p:regular r:id="rId40"/>
      <p:bold r:id="rId41"/>
      <p:italic r:id="rId42"/>
      <p:boldItalic r:id="rId43"/>
    </p:embeddedFont>
    <p:embeddedFont>
      <p:font typeface="Inter ExtraBold"/>
      <p:bold r:id="rId44"/>
      <p:boldItalic r:id="rId45"/>
    </p:embeddedFont>
    <p:embeddedFont>
      <p:font typeface="Roboto SemiBold"/>
      <p:regular r:id="rId46"/>
      <p:bold r:id="rId47"/>
      <p:italic r:id="rId48"/>
      <p:boldItalic r:id="rId4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Inter-regular.fntdata"/><Relationship Id="rId42" Type="http://schemas.openxmlformats.org/officeDocument/2006/relationships/font" Target="fonts/Inter-italic.fntdata"/><Relationship Id="rId41" Type="http://schemas.openxmlformats.org/officeDocument/2006/relationships/font" Target="fonts/Inter-bold.fntdata"/><Relationship Id="rId44" Type="http://schemas.openxmlformats.org/officeDocument/2006/relationships/font" Target="fonts/InterExtraBold-bold.fntdata"/><Relationship Id="rId43" Type="http://schemas.openxmlformats.org/officeDocument/2006/relationships/font" Target="fonts/Inter-boldItalic.fntdata"/><Relationship Id="rId46" Type="http://schemas.openxmlformats.org/officeDocument/2006/relationships/font" Target="fonts/RobotoSemiBold-regular.fntdata"/><Relationship Id="rId45" Type="http://schemas.openxmlformats.org/officeDocument/2006/relationships/font" Target="fonts/InterExtraBold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font" Target="fonts/RobotoSemiBold-italic.fntdata"/><Relationship Id="rId47" Type="http://schemas.openxmlformats.org/officeDocument/2006/relationships/font" Target="fonts/RobotoSemiBold-bold.fntdata"/><Relationship Id="rId49" Type="http://schemas.openxmlformats.org/officeDocument/2006/relationships/font" Target="fonts/RobotoSemiBold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RobotoMedium-boldItalic.fntdata"/><Relationship Id="rId30" Type="http://schemas.openxmlformats.org/officeDocument/2006/relationships/font" Target="fonts/RobotoMedium-italic.fntdata"/><Relationship Id="rId33" Type="http://schemas.openxmlformats.org/officeDocument/2006/relationships/font" Target="fonts/Roboto-bold.fntdata"/><Relationship Id="rId32" Type="http://schemas.openxmlformats.org/officeDocument/2006/relationships/font" Target="fonts/Roboto-regular.fntdata"/><Relationship Id="rId35" Type="http://schemas.openxmlformats.org/officeDocument/2006/relationships/font" Target="fonts/Roboto-boldItalic.fntdata"/><Relationship Id="rId34" Type="http://schemas.openxmlformats.org/officeDocument/2006/relationships/font" Target="fonts/Roboto-italic.fntdata"/><Relationship Id="rId37" Type="http://schemas.openxmlformats.org/officeDocument/2006/relationships/font" Target="fonts/InterSemiBold-bold.fntdata"/><Relationship Id="rId36" Type="http://schemas.openxmlformats.org/officeDocument/2006/relationships/font" Target="fonts/InterSemiBold-regular.fntdata"/><Relationship Id="rId39" Type="http://schemas.openxmlformats.org/officeDocument/2006/relationships/font" Target="fonts/InterSemiBold-boldItalic.fntdata"/><Relationship Id="rId38" Type="http://schemas.openxmlformats.org/officeDocument/2006/relationships/font" Target="fonts/InterSemiBold-italic.fntdata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font" Target="fonts/RobotoMedium-regular.fntdata"/><Relationship Id="rId27" Type="http://schemas.openxmlformats.org/officeDocument/2006/relationships/slide" Target="slides/slide22.xml"/><Relationship Id="rId29" Type="http://schemas.openxmlformats.org/officeDocument/2006/relationships/font" Target="fonts/RobotoMedium-bold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8" name="Google Shape;408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1" name="Google Shape;451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2" name="Google Shape;482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3" name="Google Shape;513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4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6" name="Google Shape;556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5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7" name="Google Shape;597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Google Shape;622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3" name="Google Shape;623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4" name="Shape 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" name="Google Shape;665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6" name="Google Shape;666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6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8" name="Google Shape;718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7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Google Shape;738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9" name="Google Shape;739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6" name="Shape 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Google Shape;747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8" name="Google Shape;748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8" name="Shape 7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9" name="Google Shape;759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0" name="Google Shape;760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Relationship Id="rId4" Type="http://schemas.openxmlformats.org/officeDocument/2006/relationships/image" Target="../media/image8.png"/><Relationship Id="rId9" Type="http://schemas.openxmlformats.org/officeDocument/2006/relationships/image" Target="../media/image4.png"/><Relationship Id="rId5" Type="http://schemas.openxmlformats.org/officeDocument/2006/relationships/image" Target="../media/image3.png"/><Relationship Id="rId6" Type="http://schemas.openxmlformats.org/officeDocument/2006/relationships/image" Target="../media/image6.png"/><Relationship Id="rId7" Type="http://schemas.openxmlformats.org/officeDocument/2006/relationships/image" Target="../media/image2.png"/><Relationship Id="rId8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Relationship Id="rId4" Type="http://schemas.openxmlformats.org/officeDocument/2006/relationships/image" Target="../media/image50.png"/><Relationship Id="rId5" Type="http://schemas.openxmlformats.org/officeDocument/2006/relationships/image" Target="../media/image10.png"/><Relationship Id="rId6" Type="http://schemas.openxmlformats.org/officeDocument/2006/relationships/image" Target="../media/image1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Relationship Id="rId4" Type="http://schemas.openxmlformats.org/officeDocument/2006/relationships/image" Target="../media/image12.png"/><Relationship Id="rId9" Type="http://schemas.openxmlformats.org/officeDocument/2006/relationships/image" Target="../media/image21.png"/><Relationship Id="rId5" Type="http://schemas.openxmlformats.org/officeDocument/2006/relationships/image" Target="../media/image9.png"/><Relationship Id="rId6" Type="http://schemas.openxmlformats.org/officeDocument/2006/relationships/image" Target="../media/image11.png"/><Relationship Id="rId7" Type="http://schemas.openxmlformats.org/officeDocument/2006/relationships/image" Target="../media/image14.png"/><Relationship Id="rId8" Type="http://schemas.openxmlformats.org/officeDocument/2006/relationships/image" Target="../media/image1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image" Target="../media/image18.png"/><Relationship Id="rId5" Type="http://schemas.openxmlformats.org/officeDocument/2006/relationships/image" Target="../media/image20.png"/><Relationship Id="rId6" Type="http://schemas.openxmlformats.org/officeDocument/2006/relationships/image" Target="../media/image17.png"/><Relationship Id="rId7" Type="http://schemas.openxmlformats.org/officeDocument/2006/relationships/image" Target="../media/image27.png"/></Relationships>
</file>

<file path=ppt/slides/_rels/slide6.xml.rels><?xml version="1.0" encoding="UTF-8" standalone="yes"?><Relationships xmlns="http://schemas.openxmlformats.org/package/2006/relationships"><Relationship Id="rId20" Type="http://schemas.openxmlformats.org/officeDocument/2006/relationships/image" Target="../media/image51.png"/><Relationship Id="rId11" Type="http://schemas.openxmlformats.org/officeDocument/2006/relationships/image" Target="../media/image28.png"/><Relationship Id="rId22" Type="http://schemas.openxmlformats.org/officeDocument/2006/relationships/image" Target="../media/image24.png"/><Relationship Id="rId10" Type="http://schemas.openxmlformats.org/officeDocument/2006/relationships/image" Target="../media/image32.png"/><Relationship Id="rId21" Type="http://schemas.openxmlformats.org/officeDocument/2006/relationships/image" Target="../media/image42.png"/><Relationship Id="rId13" Type="http://schemas.openxmlformats.org/officeDocument/2006/relationships/image" Target="../media/image26.png"/><Relationship Id="rId12" Type="http://schemas.openxmlformats.org/officeDocument/2006/relationships/image" Target="../media/image35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Relationship Id="rId4" Type="http://schemas.openxmlformats.org/officeDocument/2006/relationships/image" Target="../media/image16.png"/><Relationship Id="rId9" Type="http://schemas.openxmlformats.org/officeDocument/2006/relationships/image" Target="../media/image23.png"/><Relationship Id="rId15" Type="http://schemas.openxmlformats.org/officeDocument/2006/relationships/image" Target="../media/image37.png"/><Relationship Id="rId14" Type="http://schemas.openxmlformats.org/officeDocument/2006/relationships/image" Target="../media/image30.png"/><Relationship Id="rId17" Type="http://schemas.openxmlformats.org/officeDocument/2006/relationships/image" Target="../media/image46.png"/><Relationship Id="rId16" Type="http://schemas.openxmlformats.org/officeDocument/2006/relationships/image" Target="../media/image43.png"/><Relationship Id="rId5" Type="http://schemas.openxmlformats.org/officeDocument/2006/relationships/image" Target="../media/image44.png"/><Relationship Id="rId19" Type="http://schemas.openxmlformats.org/officeDocument/2006/relationships/image" Target="../media/image33.png"/><Relationship Id="rId6" Type="http://schemas.openxmlformats.org/officeDocument/2006/relationships/image" Target="../media/image22.png"/><Relationship Id="rId18" Type="http://schemas.openxmlformats.org/officeDocument/2006/relationships/image" Target="../media/image34.png"/><Relationship Id="rId7" Type="http://schemas.openxmlformats.org/officeDocument/2006/relationships/image" Target="../media/image19.png"/><Relationship Id="rId8" Type="http://schemas.openxmlformats.org/officeDocument/2006/relationships/image" Target="../media/image25.png"/></Relationships>
</file>

<file path=ppt/slides/_rels/slide7.xml.rels><?xml version="1.0" encoding="UTF-8" standalone="yes"?><Relationships xmlns="http://schemas.openxmlformats.org/package/2006/relationships"><Relationship Id="rId11" Type="http://schemas.openxmlformats.org/officeDocument/2006/relationships/image" Target="../media/image61.png"/><Relationship Id="rId10" Type="http://schemas.openxmlformats.org/officeDocument/2006/relationships/image" Target="../media/image53.png"/><Relationship Id="rId12" Type="http://schemas.openxmlformats.org/officeDocument/2006/relationships/image" Target="../media/image36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Relationship Id="rId4" Type="http://schemas.openxmlformats.org/officeDocument/2006/relationships/image" Target="../media/image40.png"/><Relationship Id="rId9" Type="http://schemas.openxmlformats.org/officeDocument/2006/relationships/image" Target="../media/image47.png"/><Relationship Id="rId5" Type="http://schemas.openxmlformats.org/officeDocument/2006/relationships/image" Target="../media/image31.png"/><Relationship Id="rId6" Type="http://schemas.openxmlformats.org/officeDocument/2006/relationships/image" Target="../media/image38.png"/><Relationship Id="rId7" Type="http://schemas.openxmlformats.org/officeDocument/2006/relationships/image" Target="../media/image39.png"/><Relationship Id="rId8" Type="http://schemas.openxmlformats.org/officeDocument/2006/relationships/image" Target="../media/image2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Relationship Id="rId4" Type="http://schemas.openxmlformats.org/officeDocument/2006/relationships/image" Target="../media/image48.png"/><Relationship Id="rId5" Type="http://schemas.openxmlformats.org/officeDocument/2006/relationships/image" Target="../media/image5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Relationship Id="rId4" Type="http://schemas.openxmlformats.org/officeDocument/2006/relationships/image" Target="../media/image49.png"/><Relationship Id="rId5" Type="http://schemas.openxmlformats.org/officeDocument/2006/relationships/image" Target="../media/image41.png"/><Relationship Id="rId6" Type="http://schemas.openxmlformats.org/officeDocument/2006/relationships/image" Target="../media/image65.png"/><Relationship Id="rId7" Type="http://schemas.openxmlformats.org/officeDocument/2006/relationships/image" Target="../media/image45.png"/></Relationships>
</file>

<file path=ppt/slides/_rels/slide10.xml.rels><?xml version="1.0" encoding="UTF-8" standalone="yes"?><Relationships xmlns="http://schemas.openxmlformats.org/package/2006/relationships"><Relationship Id="rId11" Type="http://schemas.openxmlformats.org/officeDocument/2006/relationships/image" Target="../media/image63.png"/><Relationship Id="rId10" Type="http://schemas.openxmlformats.org/officeDocument/2006/relationships/image" Target="../media/image73.png"/><Relationship Id="rId13" Type="http://schemas.openxmlformats.org/officeDocument/2006/relationships/image" Target="../media/image77.png"/><Relationship Id="rId12" Type="http://schemas.openxmlformats.org/officeDocument/2006/relationships/image" Target="../media/image52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Relationship Id="rId4" Type="http://schemas.openxmlformats.org/officeDocument/2006/relationships/image" Target="../media/image58.png"/><Relationship Id="rId9" Type="http://schemas.openxmlformats.org/officeDocument/2006/relationships/image" Target="../media/image56.png"/><Relationship Id="rId14" Type="http://schemas.openxmlformats.org/officeDocument/2006/relationships/image" Target="../media/image66.png"/><Relationship Id="rId5" Type="http://schemas.openxmlformats.org/officeDocument/2006/relationships/image" Target="../media/image54.png"/><Relationship Id="rId6" Type="http://schemas.openxmlformats.org/officeDocument/2006/relationships/image" Target="../media/image62.png"/><Relationship Id="rId7" Type="http://schemas.openxmlformats.org/officeDocument/2006/relationships/image" Target="../media/image64.png"/><Relationship Id="rId8" Type="http://schemas.openxmlformats.org/officeDocument/2006/relationships/image" Target="../media/image87.png"/></Relationships>
</file>

<file path=ppt/slides/_rels/slide11.xml.rels><?xml version="1.0" encoding="UTF-8" standalone="yes"?><Relationships xmlns="http://schemas.openxmlformats.org/package/2006/relationships"><Relationship Id="rId11" Type="http://schemas.openxmlformats.org/officeDocument/2006/relationships/image" Target="../media/image72.png"/><Relationship Id="rId10" Type="http://schemas.openxmlformats.org/officeDocument/2006/relationships/image" Target="../media/image60.png"/><Relationship Id="rId12" Type="http://schemas.openxmlformats.org/officeDocument/2006/relationships/image" Target="../media/image69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Relationship Id="rId4" Type="http://schemas.openxmlformats.org/officeDocument/2006/relationships/image" Target="../media/image68.png"/><Relationship Id="rId9" Type="http://schemas.openxmlformats.org/officeDocument/2006/relationships/image" Target="../media/image59.png"/><Relationship Id="rId5" Type="http://schemas.openxmlformats.org/officeDocument/2006/relationships/image" Target="../media/image57.png"/><Relationship Id="rId6" Type="http://schemas.openxmlformats.org/officeDocument/2006/relationships/image" Target="../media/image67.png"/><Relationship Id="rId7" Type="http://schemas.openxmlformats.org/officeDocument/2006/relationships/image" Target="../media/image74.png"/><Relationship Id="rId8" Type="http://schemas.openxmlformats.org/officeDocument/2006/relationships/image" Target="../media/image70.png"/></Relationships>
</file>

<file path=ppt/slides/_rels/slide12.xml.rels><?xml version="1.0" encoding="UTF-8" standalone="yes"?><Relationships xmlns="http://schemas.openxmlformats.org/package/2006/relationships"><Relationship Id="rId11" Type="http://schemas.openxmlformats.org/officeDocument/2006/relationships/image" Target="../media/image75.png"/><Relationship Id="rId10" Type="http://schemas.openxmlformats.org/officeDocument/2006/relationships/image" Target="../media/image82.png"/><Relationship Id="rId13" Type="http://schemas.openxmlformats.org/officeDocument/2006/relationships/image" Target="../media/image106.png"/><Relationship Id="rId12" Type="http://schemas.openxmlformats.org/officeDocument/2006/relationships/image" Target="../media/image89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Relationship Id="rId4" Type="http://schemas.openxmlformats.org/officeDocument/2006/relationships/image" Target="../media/image79.png"/><Relationship Id="rId9" Type="http://schemas.openxmlformats.org/officeDocument/2006/relationships/image" Target="../media/image78.png"/><Relationship Id="rId5" Type="http://schemas.openxmlformats.org/officeDocument/2006/relationships/image" Target="../media/image76.png"/><Relationship Id="rId6" Type="http://schemas.openxmlformats.org/officeDocument/2006/relationships/image" Target="../media/image86.png"/><Relationship Id="rId7" Type="http://schemas.openxmlformats.org/officeDocument/2006/relationships/image" Target="../media/image83.png"/><Relationship Id="rId8" Type="http://schemas.openxmlformats.org/officeDocument/2006/relationships/image" Target="../media/image7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png"/><Relationship Id="rId4" Type="http://schemas.openxmlformats.org/officeDocument/2006/relationships/image" Target="../media/image92.png"/><Relationship Id="rId9" Type="http://schemas.openxmlformats.org/officeDocument/2006/relationships/image" Target="../media/image103.png"/><Relationship Id="rId5" Type="http://schemas.openxmlformats.org/officeDocument/2006/relationships/image" Target="../media/image81.png"/><Relationship Id="rId6" Type="http://schemas.openxmlformats.org/officeDocument/2006/relationships/image" Target="../media/image91.png"/><Relationship Id="rId7" Type="http://schemas.openxmlformats.org/officeDocument/2006/relationships/image" Target="../media/image88.png"/><Relationship Id="rId8" Type="http://schemas.openxmlformats.org/officeDocument/2006/relationships/image" Target="../media/image85.png"/></Relationships>
</file>

<file path=ppt/slides/_rels/slide14.xml.rels><?xml version="1.0" encoding="UTF-8" standalone="yes"?><Relationships xmlns="http://schemas.openxmlformats.org/package/2006/relationships"><Relationship Id="rId11" Type="http://schemas.openxmlformats.org/officeDocument/2006/relationships/image" Target="../media/image90.png"/><Relationship Id="rId10" Type="http://schemas.openxmlformats.org/officeDocument/2006/relationships/image" Target="../media/image84.png"/><Relationship Id="rId12" Type="http://schemas.openxmlformats.org/officeDocument/2006/relationships/image" Target="../media/image97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.png"/><Relationship Id="rId4" Type="http://schemas.openxmlformats.org/officeDocument/2006/relationships/image" Target="../media/image40.png"/><Relationship Id="rId9" Type="http://schemas.openxmlformats.org/officeDocument/2006/relationships/image" Target="../media/image110.png"/><Relationship Id="rId5" Type="http://schemas.openxmlformats.org/officeDocument/2006/relationships/image" Target="../media/image31.png"/><Relationship Id="rId6" Type="http://schemas.openxmlformats.org/officeDocument/2006/relationships/image" Target="../media/image38.png"/><Relationship Id="rId7" Type="http://schemas.openxmlformats.org/officeDocument/2006/relationships/image" Target="../media/image95.png"/><Relationship Id="rId8" Type="http://schemas.openxmlformats.org/officeDocument/2006/relationships/image" Target="../media/image80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.png"/><Relationship Id="rId4" Type="http://schemas.openxmlformats.org/officeDocument/2006/relationships/image" Target="../media/image93.png"/><Relationship Id="rId5" Type="http://schemas.openxmlformats.org/officeDocument/2006/relationships/image" Target="../media/image94.png"/><Relationship Id="rId6" Type="http://schemas.openxmlformats.org/officeDocument/2006/relationships/image" Target="../media/image96.png"/><Relationship Id="rId7" Type="http://schemas.openxmlformats.org/officeDocument/2006/relationships/image" Target="../media/image102.png"/></Relationships>
</file>

<file path=ppt/slides/_rels/slide16.xml.rels><?xml version="1.0" encoding="UTF-8" standalone="yes"?><Relationships xmlns="http://schemas.openxmlformats.org/package/2006/relationships"><Relationship Id="rId10" Type="http://schemas.openxmlformats.org/officeDocument/2006/relationships/image" Target="../media/image118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.png"/><Relationship Id="rId4" Type="http://schemas.openxmlformats.org/officeDocument/2006/relationships/image" Target="../media/image109.png"/><Relationship Id="rId9" Type="http://schemas.openxmlformats.org/officeDocument/2006/relationships/image" Target="../media/image104.png"/><Relationship Id="rId5" Type="http://schemas.openxmlformats.org/officeDocument/2006/relationships/image" Target="../media/image101.png"/><Relationship Id="rId6" Type="http://schemas.openxmlformats.org/officeDocument/2006/relationships/image" Target="../media/image100.png"/><Relationship Id="rId7" Type="http://schemas.openxmlformats.org/officeDocument/2006/relationships/image" Target="../media/image126.png"/><Relationship Id="rId8" Type="http://schemas.openxmlformats.org/officeDocument/2006/relationships/image" Target="../media/image99.png"/></Relationships>
</file>

<file path=ppt/slides/_rels/slide17.xml.rels><?xml version="1.0" encoding="UTF-8" standalone="yes"?><Relationships xmlns="http://schemas.openxmlformats.org/package/2006/relationships"><Relationship Id="rId11" Type="http://schemas.openxmlformats.org/officeDocument/2006/relationships/image" Target="../media/image108.png"/><Relationship Id="rId10" Type="http://schemas.openxmlformats.org/officeDocument/2006/relationships/image" Target="../media/image105.png"/><Relationship Id="rId12" Type="http://schemas.openxmlformats.org/officeDocument/2006/relationships/image" Target="../media/image114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5.png"/><Relationship Id="rId4" Type="http://schemas.openxmlformats.org/officeDocument/2006/relationships/image" Target="../media/image40.png"/><Relationship Id="rId9" Type="http://schemas.openxmlformats.org/officeDocument/2006/relationships/image" Target="../media/image119.png"/><Relationship Id="rId5" Type="http://schemas.openxmlformats.org/officeDocument/2006/relationships/image" Target="../media/image31.png"/><Relationship Id="rId6" Type="http://schemas.openxmlformats.org/officeDocument/2006/relationships/image" Target="../media/image38.png"/><Relationship Id="rId7" Type="http://schemas.openxmlformats.org/officeDocument/2006/relationships/image" Target="../media/image98.png"/><Relationship Id="rId8" Type="http://schemas.openxmlformats.org/officeDocument/2006/relationships/image" Target="../media/image122.png"/></Relationships>
</file>

<file path=ppt/slides/_rels/slide18.xml.rels><?xml version="1.0" encoding="UTF-8" standalone="yes"?><Relationships xmlns="http://schemas.openxmlformats.org/package/2006/relationships"><Relationship Id="rId11" Type="http://schemas.openxmlformats.org/officeDocument/2006/relationships/image" Target="../media/image115.png"/><Relationship Id="rId10" Type="http://schemas.openxmlformats.org/officeDocument/2006/relationships/image" Target="../media/image107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5.png"/><Relationship Id="rId4" Type="http://schemas.openxmlformats.org/officeDocument/2006/relationships/image" Target="../media/image111.png"/><Relationship Id="rId9" Type="http://schemas.openxmlformats.org/officeDocument/2006/relationships/image" Target="../media/image112.png"/><Relationship Id="rId5" Type="http://schemas.openxmlformats.org/officeDocument/2006/relationships/image" Target="../media/image113.png"/><Relationship Id="rId6" Type="http://schemas.openxmlformats.org/officeDocument/2006/relationships/image" Target="../media/image125.png"/><Relationship Id="rId7" Type="http://schemas.openxmlformats.org/officeDocument/2006/relationships/image" Target="../media/image117.png"/><Relationship Id="rId8" Type="http://schemas.openxmlformats.org/officeDocument/2006/relationships/image" Target="../media/image123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5.png"/><Relationship Id="rId4" Type="http://schemas.openxmlformats.org/officeDocument/2006/relationships/image" Target="../media/image120.png"/><Relationship Id="rId5" Type="http://schemas.openxmlformats.org/officeDocument/2006/relationships/image" Target="../media/image127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5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5.png"/><Relationship Id="rId4" Type="http://schemas.openxmlformats.org/officeDocument/2006/relationships/image" Target="../media/image130.png"/><Relationship Id="rId5" Type="http://schemas.openxmlformats.org/officeDocument/2006/relationships/image" Target="../media/image121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5.png"/><Relationship Id="rId4" Type="http://schemas.openxmlformats.org/officeDocument/2006/relationships/image" Target="../media/image128.png"/><Relationship Id="rId5" Type="http://schemas.openxmlformats.org/officeDocument/2006/relationships/image" Target="../media/image116.png"/><Relationship Id="rId6" Type="http://schemas.openxmlformats.org/officeDocument/2006/relationships/image" Target="../media/image129.png"/><Relationship Id="rId7" Type="http://schemas.openxmlformats.org/officeDocument/2006/relationships/image" Target="../media/image12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1143000" y="571500"/>
            <a:ext cx="9001125" cy="13409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800" u="none" cap="none" strike="noStrike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Autonomous AI DBA Operations Platform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1143000" y="2102941"/>
            <a:ext cx="7620000" cy="426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2563EB"/>
                </a:solidFill>
                <a:latin typeface="Roboto Medium"/>
                <a:ea typeface="Roboto Medium"/>
                <a:cs typeface="Roboto Medium"/>
                <a:sym typeface="Roboto Medium"/>
              </a:rPr>
              <a:t>AI-Powered Database Reliability &amp; Incident Automation System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1143000" y="3005881"/>
            <a:ext cx="990600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Roboto Medium"/>
                <a:ea typeface="Roboto Medium"/>
                <a:cs typeface="Roboto Medium"/>
                <a:sym typeface="Roboto Medium"/>
              </a:rPr>
              <a:t>Presented By: 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650" u="none" cap="none" strike="noStrike">
                <a:solidFill>
                  <a:srgbClr val="0F172A"/>
                </a:solidFill>
                <a:latin typeface="Roboto"/>
                <a:ea typeface="Roboto"/>
                <a:cs typeface="Roboto"/>
                <a:sym typeface="Roboto"/>
              </a:rPr>
              <a:t>Shami Gaffar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1143000" y="5547419"/>
            <a:ext cx="9906000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CORE TECHNOLOGY STACK</a:t>
            </a:r>
            <a:endParaRPr/>
          </a:p>
        </p:txBody>
      </p:sp>
      <p:pic>
        <p:nvPicPr>
          <p:cNvPr descr="image.png" id="89" name="Google Shape;89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43000" y="5934075"/>
            <a:ext cx="809625" cy="3524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0" name="Google Shape;90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095500" y="5934075"/>
            <a:ext cx="857250" cy="3524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1" name="Google Shape;91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095625" y="5934075"/>
            <a:ext cx="2133600" cy="3524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2" name="Google Shape;92;p1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372100" y="5934075"/>
            <a:ext cx="1809750" cy="3524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3" name="Google Shape;93;p1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324725" y="5934075"/>
            <a:ext cx="1304925" cy="3524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4" name="Google Shape;94;p1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772525" y="5934075"/>
            <a:ext cx="1562100" cy="352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9" name="Google Shape;99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0" name="Google Shape;100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3971478"/>
            <a:ext cx="5048250" cy="242470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1" name="Google Shape;101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2097881"/>
            <a:ext cx="50482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762000" y="1609725"/>
            <a:ext cx="5300662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1E293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What is the Project?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762000" y="2047875"/>
            <a:ext cx="5048250" cy="8684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The Autonomous AI DBA Operations Platform is an AI-assisted operational intelligence platform designed to revolutionize SQL Server database administration.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762000" y="3106787"/>
            <a:ext cx="5048250" cy="5789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It seamlessly integrates advanced monitoring, machine learning, and automation to achieve peak database reliability.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990600" y="4161978"/>
            <a:ext cx="1209675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rPr>
              <a:t>Core Capabilities:</a:t>
            </a:r>
            <a:endParaRPr/>
          </a:p>
        </p:txBody>
      </p:sp>
      <p:pic>
        <p:nvPicPr>
          <p:cNvPr descr="image.png" id="106" name="Google Shape;106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91275" y="2107406"/>
            <a:ext cx="5029200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 txBox="1"/>
          <p:nvPr/>
        </p:nvSpPr>
        <p:spPr>
          <a:xfrm>
            <a:off x="1447800" y="4438203"/>
            <a:ext cx="4171950" cy="289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475569"/>
                </a:solidFill>
                <a:latin typeface="Roboto Medium"/>
                <a:ea typeface="Roboto Medium"/>
                <a:cs typeface="Roboto Medium"/>
                <a:sym typeface="Roboto Medium"/>
              </a:rPr>
              <a:t>Intelligent monitoring</a:t>
            </a:r>
            <a:endParaRPr/>
          </a:p>
        </p:txBody>
      </p:sp>
      <p:sp>
        <p:nvSpPr>
          <p:cNvPr id="108" name="Google Shape;108;p14"/>
          <p:cNvSpPr txBox="1"/>
          <p:nvPr/>
        </p:nvSpPr>
        <p:spPr>
          <a:xfrm>
            <a:off x="1447800" y="4880074"/>
            <a:ext cx="4171950" cy="289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475569"/>
                </a:solidFill>
                <a:latin typeface="Roboto Medium"/>
                <a:ea typeface="Roboto Medium"/>
                <a:cs typeface="Roboto Medium"/>
                <a:sym typeface="Roboto Medium"/>
              </a:rPr>
              <a:t>AI-driven Root Cause Analysis (RCA)</a:t>
            </a:r>
            <a:endParaRPr/>
          </a:p>
        </p:txBody>
      </p:sp>
      <p:sp>
        <p:nvSpPr>
          <p:cNvPr id="109" name="Google Shape;109;p14"/>
          <p:cNvSpPr txBox="1"/>
          <p:nvPr/>
        </p:nvSpPr>
        <p:spPr>
          <a:xfrm>
            <a:off x="1447800" y="5321944"/>
            <a:ext cx="4171950" cy="289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475569"/>
                </a:solidFill>
                <a:latin typeface="Roboto Medium"/>
                <a:ea typeface="Roboto Medium"/>
                <a:cs typeface="Roboto Medium"/>
                <a:sym typeface="Roboto Medium"/>
              </a:rPr>
              <a:t>Performance diagnostics &amp; automation workflows</a:t>
            </a:r>
            <a:endParaRPr/>
          </a:p>
        </p:txBody>
      </p:sp>
      <p:sp>
        <p:nvSpPr>
          <p:cNvPr id="110" name="Google Shape;110;p14"/>
          <p:cNvSpPr txBox="1"/>
          <p:nvPr/>
        </p:nvSpPr>
        <p:spPr>
          <a:xfrm>
            <a:off x="1447800" y="5763815"/>
            <a:ext cx="4171950" cy="289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475569"/>
                </a:solidFill>
                <a:latin typeface="Roboto Medium"/>
                <a:ea typeface="Roboto Medium"/>
                <a:cs typeface="Roboto Medium"/>
                <a:sym typeface="Roboto Medium"/>
              </a:rPr>
              <a:t>Governance and operational reporting</a:t>
            </a:r>
            <a:endParaRPr/>
          </a:p>
        </p:txBody>
      </p:sp>
      <p:sp>
        <p:nvSpPr>
          <p:cNvPr id="111" name="Google Shape;111;p14"/>
          <p:cNvSpPr txBox="1"/>
          <p:nvPr/>
        </p:nvSpPr>
        <p:spPr>
          <a:xfrm>
            <a:off x="1181100" y="4438203"/>
            <a:ext cx="1809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2563EB"/>
                </a:solidFill>
                <a:latin typeface="Roboto"/>
                <a:ea typeface="Roboto"/>
                <a:cs typeface="Roboto"/>
                <a:sym typeface="Roboto"/>
              </a:rPr>
              <a:t>→</a:t>
            </a:r>
            <a:endParaRPr/>
          </a:p>
        </p:txBody>
      </p:sp>
      <p:sp>
        <p:nvSpPr>
          <p:cNvPr id="112" name="Google Shape;112;p14"/>
          <p:cNvSpPr txBox="1"/>
          <p:nvPr/>
        </p:nvSpPr>
        <p:spPr>
          <a:xfrm>
            <a:off x="1181100" y="4880074"/>
            <a:ext cx="1809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2563EB"/>
                </a:solidFill>
                <a:latin typeface="Roboto"/>
                <a:ea typeface="Roboto"/>
                <a:cs typeface="Roboto"/>
                <a:sym typeface="Roboto"/>
              </a:rPr>
              <a:t>→</a:t>
            </a:r>
            <a:endParaRPr/>
          </a:p>
        </p:txBody>
      </p:sp>
      <p:sp>
        <p:nvSpPr>
          <p:cNvPr id="113" name="Google Shape;113;p14"/>
          <p:cNvSpPr txBox="1"/>
          <p:nvPr/>
        </p:nvSpPr>
        <p:spPr>
          <a:xfrm>
            <a:off x="1181100" y="5321944"/>
            <a:ext cx="1809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2563EB"/>
                </a:solidFill>
                <a:latin typeface="Roboto"/>
                <a:ea typeface="Roboto"/>
                <a:cs typeface="Roboto"/>
                <a:sym typeface="Roboto"/>
              </a:rPr>
              <a:t>→</a:t>
            </a:r>
            <a:endParaRPr/>
          </a:p>
        </p:txBody>
      </p:sp>
      <p:sp>
        <p:nvSpPr>
          <p:cNvPr id="114" name="Google Shape;114;p14"/>
          <p:cNvSpPr txBox="1"/>
          <p:nvPr/>
        </p:nvSpPr>
        <p:spPr>
          <a:xfrm>
            <a:off x="1181100" y="5763815"/>
            <a:ext cx="1809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2563EB"/>
                </a:solidFill>
                <a:latin typeface="Roboto"/>
                <a:ea typeface="Roboto"/>
                <a:cs typeface="Roboto"/>
                <a:sym typeface="Roboto"/>
              </a:rPr>
              <a:t>→</a:t>
            </a:r>
            <a:endParaRPr/>
          </a:p>
        </p:txBody>
      </p:sp>
      <p:sp>
        <p:nvSpPr>
          <p:cNvPr id="115" name="Google Shape;115;p14"/>
          <p:cNvSpPr txBox="1"/>
          <p:nvPr/>
        </p:nvSpPr>
        <p:spPr>
          <a:xfrm>
            <a:off x="762000" y="571500"/>
            <a:ext cx="112014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Project Definition</a:t>
            </a:r>
            <a:endParaRPr/>
          </a:p>
        </p:txBody>
      </p:sp>
      <p:sp>
        <p:nvSpPr>
          <p:cNvPr id="116" name="Google Shape;116;p14"/>
          <p:cNvSpPr/>
          <p:nvPr/>
        </p:nvSpPr>
        <p:spPr>
          <a:xfrm>
            <a:off x="762000" y="1200150"/>
            <a:ext cx="10668000" cy="28575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1" name="Google Shape;121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2" name="Google Shape;122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5676602"/>
            <a:ext cx="10668000" cy="609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3" name="Google Shape;123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000" y="1609873"/>
            <a:ext cx="5143500" cy="368572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4" name="Google Shape;124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86500" y="1609873"/>
            <a:ext cx="5143500" cy="3685728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15"/>
          <p:cNvSpPr txBox="1"/>
          <p:nvPr/>
        </p:nvSpPr>
        <p:spPr>
          <a:xfrm>
            <a:off x="1735931" y="5867102"/>
            <a:ext cx="14668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BE123C"/>
                </a:solidFill>
                <a:latin typeface="Roboto"/>
                <a:ea typeface="Roboto"/>
                <a:cs typeface="Roboto"/>
                <a:sym typeface="Roboto"/>
              </a:rPr>
              <a:t>Business Impact:</a:t>
            </a:r>
            <a:endParaRPr/>
          </a:p>
        </p:txBody>
      </p:sp>
      <p:sp>
        <p:nvSpPr>
          <p:cNvPr id="126" name="Google Shape;126;p15"/>
          <p:cNvSpPr txBox="1"/>
          <p:nvPr/>
        </p:nvSpPr>
        <p:spPr>
          <a:xfrm>
            <a:off x="4121943" y="5867102"/>
            <a:ext cx="66579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BE123C"/>
                </a:solidFill>
                <a:latin typeface="Roboto Medium"/>
                <a:ea typeface="Roboto Medium"/>
                <a:cs typeface="Roboto Medium"/>
                <a:sym typeface="Roboto Medium"/>
              </a:rPr>
              <a:t>• Increased downtime • SLA violations • Reduced productivity • Higher operational cost</a:t>
            </a:r>
            <a:endParaRPr/>
          </a:p>
        </p:txBody>
      </p:sp>
      <p:sp>
        <p:nvSpPr>
          <p:cNvPr id="127" name="Google Shape;127;p15"/>
          <p:cNvSpPr txBox="1"/>
          <p:nvPr/>
        </p:nvSpPr>
        <p:spPr>
          <a:xfrm>
            <a:off x="1152525" y="2000398"/>
            <a:ext cx="4580572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0957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2563E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DBA Challenges</a:t>
            </a:r>
            <a:endParaRPr/>
          </a:p>
        </p:txBody>
      </p:sp>
      <p:sp>
        <p:nvSpPr>
          <p:cNvPr id="128" name="Google Shape;128;p15"/>
          <p:cNvSpPr/>
          <p:nvPr/>
        </p:nvSpPr>
        <p:spPr>
          <a:xfrm>
            <a:off x="1152525" y="2438548"/>
            <a:ext cx="4362450" cy="1905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5"/>
          <p:cNvSpPr txBox="1"/>
          <p:nvPr/>
        </p:nvSpPr>
        <p:spPr>
          <a:xfrm>
            <a:off x="6677025" y="2000398"/>
            <a:ext cx="4580572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4290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2563E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Technical Challenges</a:t>
            </a:r>
            <a:endParaRPr/>
          </a:p>
        </p:txBody>
      </p:sp>
      <p:sp>
        <p:nvSpPr>
          <p:cNvPr id="130" name="Google Shape;130;p15"/>
          <p:cNvSpPr/>
          <p:nvPr/>
        </p:nvSpPr>
        <p:spPr>
          <a:xfrm>
            <a:off x="6677025" y="2438548"/>
            <a:ext cx="4362450" cy="1905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31" name="Google Shape;131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450181" y="5886152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2" name="Google Shape;132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152525" y="2028973"/>
            <a:ext cx="314325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5"/>
          <p:cNvSpPr txBox="1"/>
          <p:nvPr/>
        </p:nvSpPr>
        <p:spPr>
          <a:xfrm>
            <a:off x="1419225" y="2695723"/>
            <a:ext cx="4095750" cy="289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Manual monitoring and troubleshooting</a:t>
            </a:r>
            <a:endParaRPr/>
          </a:p>
        </p:txBody>
      </p:sp>
      <p:sp>
        <p:nvSpPr>
          <p:cNvPr id="134" name="Google Shape;134;p15"/>
          <p:cNvSpPr txBox="1"/>
          <p:nvPr/>
        </p:nvSpPr>
        <p:spPr>
          <a:xfrm>
            <a:off x="1419225" y="3137594"/>
            <a:ext cx="4095750" cy="289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Delayed incident response times</a:t>
            </a:r>
            <a:endParaRPr/>
          </a:p>
        </p:txBody>
      </p:sp>
      <p:sp>
        <p:nvSpPr>
          <p:cNvPr id="135" name="Google Shape;135;p15"/>
          <p:cNvSpPr txBox="1"/>
          <p:nvPr/>
        </p:nvSpPr>
        <p:spPr>
          <a:xfrm>
            <a:off x="1419225" y="3579465"/>
            <a:ext cx="4095750" cy="289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Repetitive operational activities</a:t>
            </a:r>
            <a:endParaRPr/>
          </a:p>
        </p:txBody>
      </p:sp>
      <p:sp>
        <p:nvSpPr>
          <p:cNvPr id="136" name="Google Shape;136;p15"/>
          <p:cNvSpPr txBox="1"/>
          <p:nvPr/>
        </p:nvSpPr>
        <p:spPr>
          <a:xfrm>
            <a:off x="1419225" y="4021335"/>
            <a:ext cx="4095750" cy="289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Slow Root Cause Analysis (RCA)</a:t>
            </a:r>
            <a:endParaRPr/>
          </a:p>
        </p:txBody>
      </p:sp>
      <p:sp>
        <p:nvSpPr>
          <p:cNvPr id="137" name="Google Shape;137;p15"/>
          <p:cNvSpPr txBox="1"/>
          <p:nvPr/>
        </p:nvSpPr>
        <p:spPr>
          <a:xfrm>
            <a:off x="1419225" y="4463206"/>
            <a:ext cx="4095750" cy="289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Reactive operational workflows</a:t>
            </a:r>
            <a:endParaRPr/>
          </a:p>
        </p:txBody>
      </p:sp>
      <p:pic>
        <p:nvPicPr>
          <p:cNvPr descr="image.png" id="138" name="Google Shape;138;p1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677025" y="2028973"/>
            <a:ext cx="24765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15"/>
          <p:cNvSpPr txBox="1"/>
          <p:nvPr/>
        </p:nvSpPr>
        <p:spPr>
          <a:xfrm>
            <a:off x="6943725" y="2695723"/>
            <a:ext cx="4095750" cy="289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Blocking sessions and deadlocks</a:t>
            </a:r>
            <a:endParaRPr/>
          </a:p>
        </p:txBody>
      </p:sp>
      <p:sp>
        <p:nvSpPr>
          <p:cNvPr id="140" name="Google Shape;140;p15"/>
          <p:cNvSpPr txBox="1"/>
          <p:nvPr/>
        </p:nvSpPr>
        <p:spPr>
          <a:xfrm>
            <a:off x="6943725" y="3137594"/>
            <a:ext cx="4095750" cy="289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High CPU and memory usage</a:t>
            </a:r>
            <a:endParaRPr/>
          </a:p>
        </p:txBody>
      </p:sp>
      <p:sp>
        <p:nvSpPr>
          <p:cNvPr id="141" name="Google Shape;141;p15"/>
          <p:cNvSpPr txBox="1"/>
          <p:nvPr/>
        </p:nvSpPr>
        <p:spPr>
          <a:xfrm>
            <a:off x="6943725" y="3579465"/>
            <a:ext cx="4095750" cy="289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Backup failures and data risks</a:t>
            </a:r>
            <a:endParaRPr/>
          </a:p>
        </p:txBody>
      </p:sp>
      <p:sp>
        <p:nvSpPr>
          <p:cNvPr id="142" name="Google Shape;142;p15"/>
          <p:cNvSpPr txBox="1"/>
          <p:nvPr/>
        </p:nvSpPr>
        <p:spPr>
          <a:xfrm>
            <a:off x="6943725" y="4021335"/>
            <a:ext cx="4095750" cy="289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Long-running inefficient queries</a:t>
            </a:r>
            <a:endParaRPr/>
          </a:p>
        </p:txBody>
      </p:sp>
      <p:sp>
        <p:nvSpPr>
          <p:cNvPr id="143" name="Google Shape;143;p15"/>
          <p:cNvSpPr txBox="1"/>
          <p:nvPr/>
        </p:nvSpPr>
        <p:spPr>
          <a:xfrm>
            <a:off x="6943725" y="4463206"/>
            <a:ext cx="4095750" cy="289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Unpredictable database growth issues</a:t>
            </a:r>
            <a:endParaRPr/>
          </a:p>
        </p:txBody>
      </p:sp>
      <p:sp>
        <p:nvSpPr>
          <p:cNvPr id="144" name="Google Shape;144;p15"/>
          <p:cNvSpPr txBox="1"/>
          <p:nvPr/>
        </p:nvSpPr>
        <p:spPr>
          <a:xfrm>
            <a:off x="1152525" y="2695723"/>
            <a:ext cx="1809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2563EB"/>
                </a:solidFill>
                <a:latin typeface="Roboto"/>
                <a:ea typeface="Roboto"/>
                <a:cs typeface="Roboto"/>
                <a:sym typeface="Roboto"/>
              </a:rPr>
              <a:t>→</a:t>
            </a:r>
            <a:endParaRPr/>
          </a:p>
        </p:txBody>
      </p:sp>
      <p:sp>
        <p:nvSpPr>
          <p:cNvPr id="145" name="Google Shape;145;p15"/>
          <p:cNvSpPr txBox="1"/>
          <p:nvPr/>
        </p:nvSpPr>
        <p:spPr>
          <a:xfrm>
            <a:off x="1152525" y="3137594"/>
            <a:ext cx="1809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2563EB"/>
                </a:solidFill>
                <a:latin typeface="Roboto"/>
                <a:ea typeface="Roboto"/>
                <a:cs typeface="Roboto"/>
                <a:sym typeface="Roboto"/>
              </a:rPr>
              <a:t>→</a:t>
            </a:r>
            <a:endParaRPr/>
          </a:p>
        </p:txBody>
      </p:sp>
      <p:sp>
        <p:nvSpPr>
          <p:cNvPr id="146" name="Google Shape;146;p15"/>
          <p:cNvSpPr txBox="1"/>
          <p:nvPr/>
        </p:nvSpPr>
        <p:spPr>
          <a:xfrm>
            <a:off x="1152525" y="3579465"/>
            <a:ext cx="1809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2563EB"/>
                </a:solidFill>
                <a:latin typeface="Roboto"/>
                <a:ea typeface="Roboto"/>
                <a:cs typeface="Roboto"/>
                <a:sym typeface="Roboto"/>
              </a:rPr>
              <a:t>→</a:t>
            </a:r>
            <a:endParaRPr/>
          </a:p>
        </p:txBody>
      </p:sp>
      <p:sp>
        <p:nvSpPr>
          <p:cNvPr id="147" name="Google Shape;147;p15"/>
          <p:cNvSpPr txBox="1"/>
          <p:nvPr/>
        </p:nvSpPr>
        <p:spPr>
          <a:xfrm>
            <a:off x="1152525" y="4021335"/>
            <a:ext cx="1809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2563EB"/>
                </a:solidFill>
                <a:latin typeface="Roboto"/>
                <a:ea typeface="Roboto"/>
                <a:cs typeface="Roboto"/>
                <a:sym typeface="Roboto"/>
              </a:rPr>
              <a:t>→</a:t>
            </a:r>
            <a:endParaRPr/>
          </a:p>
        </p:txBody>
      </p:sp>
      <p:sp>
        <p:nvSpPr>
          <p:cNvPr id="148" name="Google Shape;148;p15"/>
          <p:cNvSpPr txBox="1"/>
          <p:nvPr/>
        </p:nvSpPr>
        <p:spPr>
          <a:xfrm>
            <a:off x="1152525" y="4463206"/>
            <a:ext cx="1809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2563EB"/>
                </a:solidFill>
                <a:latin typeface="Roboto"/>
                <a:ea typeface="Roboto"/>
                <a:cs typeface="Roboto"/>
                <a:sym typeface="Roboto"/>
              </a:rPr>
              <a:t>→</a:t>
            </a:r>
            <a:endParaRPr/>
          </a:p>
        </p:txBody>
      </p:sp>
      <p:sp>
        <p:nvSpPr>
          <p:cNvPr id="149" name="Google Shape;149;p15"/>
          <p:cNvSpPr txBox="1"/>
          <p:nvPr/>
        </p:nvSpPr>
        <p:spPr>
          <a:xfrm>
            <a:off x="6677025" y="2695723"/>
            <a:ext cx="1809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2563EB"/>
                </a:solidFill>
                <a:latin typeface="Roboto"/>
                <a:ea typeface="Roboto"/>
                <a:cs typeface="Roboto"/>
                <a:sym typeface="Roboto"/>
              </a:rPr>
              <a:t>→</a:t>
            </a:r>
            <a:endParaRPr/>
          </a:p>
        </p:txBody>
      </p:sp>
      <p:sp>
        <p:nvSpPr>
          <p:cNvPr id="150" name="Google Shape;150;p15"/>
          <p:cNvSpPr txBox="1"/>
          <p:nvPr/>
        </p:nvSpPr>
        <p:spPr>
          <a:xfrm>
            <a:off x="6677025" y="3137594"/>
            <a:ext cx="1809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2563EB"/>
                </a:solidFill>
                <a:latin typeface="Roboto"/>
                <a:ea typeface="Roboto"/>
                <a:cs typeface="Roboto"/>
                <a:sym typeface="Roboto"/>
              </a:rPr>
              <a:t>→</a:t>
            </a:r>
            <a:endParaRPr/>
          </a:p>
        </p:txBody>
      </p:sp>
      <p:sp>
        <p:nvSpPr>
          <p:cNvPr id="151" name="Google Shape;151;p15"/>
          <p:cNvSpPr txBox="1"/>
          <p:nvPr/>
        </p:nvSpPr>
        <p:spPr>
          <a:xfrm>
            <a:off x="6677025" y="3579465"/>
            <a:ext cx="1809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2563EB"/>
                </a:solidFill>
                <a:latin typeface="Roboto"/>
                <a:ea typeface="Roboto"/>
                <a:cs typeface="Roboto"/>
                <a:sym typeface="Roboto"/>
              </a:rPr>
              <a:t>→</a:t>
            </a:r>
            <a:endParaRPr/>
          </a:p>
        </p:txBody>
      </p:sp>
      <p:sp>
        <p:nvSpPr>
          <p:cNvPr id="152" name="Google Shape;152;p15"/>
          <p:cNvSpPr txBox="1"/>
          <p:nvPr/>
        </p:nvSpPr>
        <p:spPr>
          <a:xfrm>
            <a:off x="6677025" y="4021335"/>
            <a:ext cx="1809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2563EB"/>
                </a:solidFill>
                <a:latin typeface="Roboto"/>
                <a:ea typeface="Roboto"/>
                <a:cs typeface="Roboto"/>
                <a:sym typeface="Roboto"/>
              </a:rPr>
              <a:t>→</a:t>
            </a:r>
            <a:endParaRPr/>
          </a:p>
        </p:txBody>
      </p:sp>
      <p:sp>
        <p:nvSpPr>
          <p:cNvPr id="153" name="Google Shape;153;p15"/>
          <p:cNvSpPr txBox="1"/>
          <p:nvPr/>
        </p:nvSpPr>
        <p:spPr>
          <a:xfrm>
            <a:off x="6677025" y="4463206"/>
            <a:ext cx="1809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2563EB"/>
                </a:solidFill>
                <a:latin typeface="Roboto"/>
                <a:ea typeface="Roboto"/>
                <a:cs typeface="Roboto"/>
                <a:sym typeface="Roboto"/>
              </a:rPr>
              <a:t>→</a:t>
            </a:r>
            <a:endParaRPr/>
          </a:p>
        </p:txBody>
      </p:sp>
      <p:sp>
        <p:nvSpPr>
          <p:cNvPr id="154" name="Google Shape;154;p15"/>
          <p:cNvSpPr txBox="1"/>
          <p:nvPr/>
        </p:nvSpPr>
        <p:spPr>
          <a:xfrm>
            <a:off x="762000" y="571500"/>
            <a:ext cx="112014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Business Problem Statement</a:t>
            </a:r>
            <a:endParaRPr/>
          </a:p>
        </p:txBody>
      </p:sp>
      <p:sp>
        <p:nvSpPr>
          <p:cNvPr id="155" name="Google Shape;155;p15"/>
          <p:cNvSpPr/>
          <p:nvPr/>
        </p:nvSpPr>
        <p:spPr>
          <a:xfrm>
            <a:off x="762000" y="1200150"/>
            <a:ext cx="10668000" cy="28575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0" name="Google Shape;160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16"/>
          <p:cNvSpPr/>
          <p:nvPr/>
        </p:nvSpPr>
        <p:spPr>
          <a:xfrm>
            <a:off x="1809750" y="1609725"/>
            <a:ext cx="8572500" cy="689520"/>
          </a:xfrm>
          <a:prstGeom prst="roundRect">
            <a:avLst>
              <a:gd fmla="val 16576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6"/>
          <p:cNvSpPr txBox="1"/>
          <p:nvPr/>
        </p:nvSpPr>
        <p:spPr>
          <a:xfrm>
            <a:off x="2609850" y="1800225"/>
            <a:ext cx="7581900" cy="308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rPr>
              <a:t>Automate Monitoring:</a:t>
            </a:r>
            <a:r>
              <a:rPr b="0" i="0" lang="en-US" sz="1425" u="none" cap="none" strike="noStrike">
                <a:solidFill>
                  <a:srgbClr val="1E293B"/>
                </a:solidFill>
                <a:latin typeface="Roboto Medium"/>
                <a:ea typeface="Roboto Medium"/>
                <a:cs typeface="Roboto Medium"/>
                <a:sym typeface="Roboto Medium"/>
              </a:rPr>
              <a:t> Streamline SQL Server operational tracking and metric collection.</a:t>
            </a:r>
            <a:endParaRPr/>
          </a:p>
        </p:txBody>
      </p:sp>
      <p:sp>
        <p:nvSpPr>
          <p:cNvPr id="163" name="Google Shape;163;p16"/>
          <p:cNvSpPr/>
          <p:nvPr/>
        </p:nvSpPr>
        <p:spPr>
          <a:xfrm>
            <a:off x="1809750" y="2537370"/>
            <a:ext cx="8572500" cy="689520"/>
          </a:xfrm>
          <a:prstGeom prst="roundRect">
            <a:avLst>
              <a:gd fmla="val 16576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6"/>
          <p:cNvSpPr txBox="1"/>
          <p:nvPr/>
        </p:nvSpPr>
        <p:spPr>
          <a:xfrm>
            <a:off x="2609850" y="2727870"/>
            <a:ext cx="7581900" cy="308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rPr>
              <a:t>AI-Powered RCA:</a:t>
            </a:r>
            <a:r>
              <a:rPr b="0" i="0" lang="en-US" sz="1425" u="none" cap="none" strike="noStrike">
                <a:solidFill>
                  <a:srgbClr val="1E293B"/>
                </a:solidFill>
                <a:latin typeface="Roboto Medium"/>
                <a:ea typeface="Roboto Medium"/>
                <a:cs typeface="Roboto Medium"/>
                <a:sym typeface="Roboto Medium"/>
              </a:rPr>
              <a:t> Automatically generate comprehensive Root Cause Analysis reports.</a:t>
            </a:r>
            <a:endParaRPr/>
          </a:p>
        </p:txBody>
      </p:sp>
      <p:sp>
        <p:nvSpPr>
          <p:cNvPr id="165" name="Google Shape;165;p16"/>
          <p:cNvSpPr/>
          <p:nvPr/>
        </p:nvSpPr>
        <p:spPr>
          <a:xfrm>
            <a:off x="1809750" y="3465016"/>
            <a:ext cx="8572500" cy="689520"/>
          </a:xfrm>
          <a:prstGeom prst="roundRect">
            <a:avLst>
              <a:gd fmla="val 16576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6"/>
          <p:cNvSpPr txBox="1"/>
          <p:nvPr/>
        </p:nvSpPr>
        <p:spPr>
          <a:xfrm>
            <a:off x="2609850" y="3655516"/>
            <a:ext cx="7581900" cy="308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rPr>
              <a:t>Intelligent Remediation:</a:t>
            </a:r>
            <a:r>
              <a:rPr b="0" i="0" lang="en-US" sz="1425" u="none" cap="none" strike="noStrike">
                <a:solidFill>
                  <a:srgbClr val="1E293B"/>
                </a:solidFill>
                <a:latin typeface="Roboto Medium"/>
                <a:ea typeface="Roboto Medium"/>
                <a:cs typeface="Roboto Medium"/>
                <a:sym typeface="Roboto Medium"/>
              </a:rPr>
              <a:t> Provide actionable, context-aware remediation recommendations.</a:t>
            </a:r>
            <a:endParaRPr/>
          </a:p>
        </p:txBody>
      </p:sp>
      <p:sp>
        <p:nvSpPr>
          <p:cNvPr id="167" name="Google Shape;167;p16"/>
          <p:cNvSpPr/>
          <p:nvPr/>
        </p:nvSpPr>
        <p:spPr>
          <a:xfrm>
            <a:off x="1809750" y="4392662"/>
            <a:ext cx="8572500" cy="689520"/>
          </a:xfrm>
          <a:prstGeom prst="roundRect">
            <a:avLst>
              <a:gd fmla="val 16576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6"/>
          <p:cNvSpPr txBox="1"/>
          <p:nvPr/>
        </p:nvSpPr>
        <p:spPr>
          <a:xfrm>
            <a:off x="2609850" y="4583162"/>
            <a:ext cx="7581900" cy="308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rPr>
              <a:t>Database Observability:</a:t>
            </a:r>
            <a:r>
              <a:rPr b="0" i="0" lang="en-US" sz="1425" u="none" cap="none" strike="noStrike">
                <a:solidFill>
                  <a:srgbClr val="1E293B"/>
                </a:solidFill>
                <a:latin typeface="Roboto Medium"/>
                <a:ea typeface="Roboto Medium"/>
                <a:cs typeface="Roboto Medium"/>
                <a:sym typeface="Roboto Medium"/>
              </a:rPr>
              <a:t> Dramatically improve overall system visibility and health tracking.</a:t>
            </a:r>
            <a:endParaRPr/>
          </a:p>
        </p:txBody>
      </p:sp>
      <p:sp>
        <p:nvSpPr>
          <p:cNvPr id="169" name="Google Shape;169;p16"/>
          <p:cNvSpPr/>
          <p:nvPr/>
        </p:nvSpPr>
        <p:spPr>
          <a:xfrm>
            <a:off x="1809750" y="5320307"/>
            <a:ext cx="8572500" cy="689520"/>
          </a:xfrm>
          <a:prstGeom prst="roundRect">
            <a:avLst>
              <a:gd fmla="val 16576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6"/>
          <p:cNvSpPr txBox="1"/>
          <p:nvPr/>
        </p:nvSpPr>
        <p:spPr>
          <a:xfrm>
            <a:off x="2609850" y="5510807"/>
            <a:ext cx="7581900" cy="308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rPr>
              <a:t>Reduce MTTR:</a:t>
            </a:r>
            <a:r>
              <a:rPr b="0" i="0" lang="en-US" sz="1425" u="none" cap="none" strike="noStrike">
                <a:solidFill>
                  <a:srgbClr val="1E293B"/>
                </a:solidFill>
                <a:latin typeface="Roboto Medium"/>
                <a:ea typeface="Roboto Medium"/>
                <a:cs typeface="Roboto Medium"/>
                <a:sym typeface="Roboto Medium"/>
              </a:rPr>
              <a:t> Significantly lower the Mean Time to Resolution for critical incidents.</a:t>
            </a:r>
            <a:endParaRPr/>
          </a:p>
        </p:txBody>
      </p:sp>
      <p:sp>
        <p:nvSpPr>
          <p:cNvPr id="171" name="Google Shape;171;p16"/>
          <p:cNvSpPr/>
          <p:nvPr/>
        </p:nvSpPr>
        <p:spPr>
          <a:xfrm>
            <a:off x="1809750" y="6247953"/>
            <a:ext cx="8572500" cy="689520"/>
          </a:xfrm>
          <a:prstGeom prst="roundRect">
            <a:avLst>
              <a:gd fmla="val 16576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6"/>
          <p:cNvSpPr txBox="1"/>
          <p:nvPr/>
        </p:nvSpPr>
        <p:spPr>
          <a:xfrm>
            <a:off x="2609850" y="6438453"/>
            <a:ext cx="7581900" cy="308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rPr>
              <a:t>Enhance Governance:</a:t>
            </a:r>
            <a:r>
              <a:rPr b="0" i="0" lang="en-US" sz="1425" u="none" cap="none" strike="noStrike">
                <a:solidFill>
                  <a:srgbClr val="1E293B"/>
                </a:solidFill>
                <a:latin typeface="Roboto Medium"/>
                <a:ea typeface="Roboto Medium"/>
                <a:cs typeface="Roboto Medium"/>
                <a:sym typeface="Roboto Medium"/>
              </a:rPr>
              <a:t> Improve operational auditability and compliance standards.</a:t>
            </a:r>
            <a:endParaRPr/>
          </a:p>
        </p:txBody>
      </p:sp>
      <p:sp>
        <p:nvSpPr>
          <p:cNvPr id="173" name="Google Shape;173;p16"/>
          <p:cNvSpPr/>
          <p:nvPr/>
        </p:nvSpPr>
        <p:spPr>
          <a:xfrm>
            <a:off x="1809750" y="7175599"/>
            <a:ext cx="8572500" cy="689520"/>
          </a:xfrm>
          <a:prstGeom prst="roundRect">
            <a:avLst>
              <a:gd fmla="val 16576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6"/>
          <p:cNvSpPr txBox="1"/>
          <p:nvPr/>
        </p:nvSpPr>
        <p:spPr>
          <a:xfrm>
            <a:off x="2609850" y="7366099"/>
            <a:ext cx="758190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rPr>
              <a:t>Proactive Operations:</a:t>
            </a:r>
            <a:r>
              <a:rPr b="0" i="0" lang="en-US" sz="1425" u="none" cap="none" strike="noStrike">
                <a:solidFill>
                  <a:srgbClr val="1E293B"/>
                </a:solidFill>
                <a:latin typeface="Roboto Medium"/>
                <a:ea typeface="Roboto Medium"/>
                <a:cs typeface="Roboto Medium"/>
                <a:sym typeface="Roboto Medium"/>
              </a:rPr>
              <a:t> Shift DBA workflows from reactive firefighting to proactive management.</a:t>
            </a:r>
            <a:endParaRPr/>
          </a:p>
        </p:txBody>
      </p:sp>
      <p:sp>
        <p:nvSpPr>
          <p:cNvPr id="175" name="Google Shape;175;p16"/>
          <p:cNvSpPr/>
          <p:nvPr/>
        </p:nvSpPr>
        <p:spPr>
          <a:xfrm>
            <a:off x="1809750" y="2289720"/>
            <a:ext cx="85725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6"/>
          <p:cNvSpPr/>
          <p:nvPr/>
        </p:nvSpPr>
        <p:spPr>
          <a:xfrm>
            <a:off x="1809750" y="3217366"/>
            <a:ext cx="85725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6"/>
          <p:cNvSpPr/>
          <p:nvPr/>
        </p:nvSpPr>
        <p:spPr>
          <a:xfrm>
            <a:off x="1809750" y="4145012"/>
            <a:ext cx="85725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6"/>
          <p:cNvSpPr/>
          <p:nvPr/>
        </p:nvSpPr>
        <p:spPr>
          <a:xfrm>
            <a:off x="1809750" y="5072657"/>
            <a:ext cx="85725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6"/>
          <p:cNvSpPr/>
          <p:nvPr/>
        </p:nvSpPr>
        <p:spPr>
          <a:xfrm>
            <a:off x="1809750" y="6000303"/>
            <a:ext cx="85725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6"/>
          <p:cNvSpPr/>
          <p:nvPr/>
        </p:nvSpPr>
        <p:spPr>
          <a:xfrm>
            <a:off x="1809750" y="6927949"/>
            <a:ext cx="85725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6"/>
          <p:cNvSpPr/>
          <p:nvPr/>
        </p:nvSpPr>
        <p:spPr>
          <a:xfrm>
            <a:off x="1809750" y="7855594"/>
            <a:ext cx="85725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82" name="Google Shape;182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009775" y="1830585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3" name="Google Shape;183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009775" y="2758231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4" name="Google Shape;184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009775" y="3685877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5" name="Google Shape;185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009775" y="4613523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6" name="Google Shape;186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009775" y="5541168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7" name="Google Shape;187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009775" y="6468814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8" name="Google Shape;188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009775" y="7396460"/>
            <a:ext cx="22860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16"/>
          <p:cNvSpPr txBox="1"/>
          <p:nvPr/>
        </p:nvSpPr>
        <p:spPr>
          <a:xfrm>
            <a:off x="762000" y="571500"/>
            <a:ext cx="112014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Project Objectives</a:t>
            </a:r>
            <a:endParaRPr/>
          </a:p>
        </p:txBody>
      </p:sp>
      <p:sp>
        <p:nvSpPr>
          <p:cNvPr id="190" name="Google Shape;190;p16"/>
          <p:cNvSpPr/>
          <p:nvPr/>
        </p:nvSpPr>
        <p:spPr>
          <a:xfrm>
            <a:off x="762000" y="1200150"/>
            <a:ext cx="10668000" cy="28575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5" name="Google Shape;195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6" name="Google Shape;196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1647229"/>
            <a:ext cx="5143500" cy="460176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7" name="Google Shape;197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1647229"/>
            <a:ext cx="5143500" cy="4601765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17"/>
          <p:cNvSpPr txBox="1"/>
          <p:nvPr/>
        </p:nvSpPr>
        <p:spPr>
          <a:xfrm>
            <a:off x="1152525" y="2085379"/>
            <a:ext cx="4580572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7147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47556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Traditional Monitoring</a:t>
            </a:r>
            <a:endParaRPr/>
          </a:p>
        </p:txBody>
      </p:sp>
      <p:sp>
        <p:nvSpPr>
          <p:cNvPr id="199" name="Google Shape;199;p17"/>
          <p:cNvSpPr/>
          <p:nvPr/>
        </p:nvSpPr>
        <p:spPr>
          <a:xfrm>
            <a:off x="1152525" y="2523529"/>
            <a:ext cx="4362450" cy="1905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7"/>
          <p:cNvSpPr txBox="1"/>
          <p:nvPr/>
        </p:nvSpPr>
        <p:spPr>
          <a:xfrm>
            <a:off x="6677025" y="2085379"/>
            <a:ext cx="4580572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4290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2563E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AI-Assisted Approach</a:t>
            </a:r>
            <a:endParaRPr/>
          </a:p>
        </p:txBody>
      </p:sp>
      <p:sp>
        <p:nvSpPr>
          <p:cNvPr id="201" name="Google Shape;201;p17"/>
          <p:cNvSpPr/>
          <p:nvPr/>
        </p:nvSpPr>
        <p:spPr>
          <a:xfrm>
            <a:off x="6677025" y="2523529"/>
            <a:ext cx="4362450" cy="1905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02" name="Google Shape;202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52525" y="2113954"/>
            <a:ext cx="276225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17"/>
          <p:cNvSpPr txBox="1"/>
          <p:nvPr/>
        </p:nvSpPr>
        <p:spPr>
          <a:xfrm>
            <a:off x="1419225" y="2780704"/>
            <a:ext cx="4095750" cy="289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Generate isolated alerts only</a:t>
            </a:r>
            <a:endParaRPr/>
          </a:p>
        </p:txBody>
      </p:sp>
      <p:sp>
        <p:nvSpPr>
          <p:cNvPr id="204" name="Google Shape;204;p17"/>
          <p:cNvSpPr txBox="1"/>
          <p:nvPr/>
        </p:nvSpPr>
        <p:spPr>
          <a:xfrm>
            <a:off x="1419225" y="3222575"/>
            <a:ext cx="4095750" cy="289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Require extensive manual analysis</a:t>
            </a:r>
            <a:endParaRPr/>
          </a:p>
        </p:txBody>
      </p:sp>
      <p:sp>
        <p:nvSpPr>
          <p:cNvPr id="205" name="Google Shape;205;p17"/>
          <p:cNvSpPr txBox="1"/>
          <p:nvPr/>
        </p:nvSpPr>
        <p:spPr>
          <a:xfrm>
            <a:off x="1419225" y="3664446"/>
            <a:ext cx="4095750" cy="289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Highly reactive troubleshooting methodology</a:t>
            </a:r>
            <a:endParaRPr/>
          </a:p>
        </p:txBody>
      </p:sp>
      <p:sp>
        <p:nvSpPr>
          <p:cNvPr id="206" name="Google Shape;206;p17"/>
          <p:cNvSpPr txBox="1"/>
          <p:nvPr/>
        </p:nvSpPr>
        <p:spPr>
          <a:xfrm>
            <a:off x="1419225" y="4106316"/>
            <a:ext cx="4095750" cy="289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Limited operational intelligence and context</a:t>
            </a:r>
            <a:endParaRPr/>
          </a:p>
        </p:txBody>
      </p:sp>
      <p:sp>
        <p:nvSpPr>
          <p:cNvPr id="207" name="Google Shape;207;p17"/>
          <p:cNvSpPr txBox="1"/>
          <p:nvPr/>
        </p:nvSpPr>
        <p:spPr>
          <a:xfrm>
            <a:off x="1419225" y="4548187"/>
            <a:ext cx="4095750" cy="289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Slow resolution times leading to prolonged impact</a:t>
            </a:r>
            <a:endParaRPr/>
          </a:p>
        </p:txBody>
      </p:sp>
      <p:pic>
        <p:nvPicPr>
          <p:cNvPr descr="image.png" id="208" name="Google Shape;208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677025" y="2113954"/>
            <a:ext cx="24765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17"/>
          <p:cNvSpPr txBox="1"/>
          <p:nvPr/>
        </p:nvSpPr>
        <p:spPr>
          <a:xfrm>
            <a:off x="6943725" y="2780704"/>
            <a:ext cx="4095750" cy="289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Context-aware, holistic analysis of system state</a:t>
            </a:r>
            <a:endParaRPr/>
          </a:p>
        </p:txBody>
      </p:sp>
      <p:sp>
        <p:nvSpPr>
          <p:cNvPr id="210" name="Google Shape;210;p17"/>
          <p:cNvSpPr txBox="1"/>
          <p:nvPr/>
        </p:nvSpPr>
        <p:spPr>
          <a:xfrm>
            <a:off x="6943725" y="3222575"/>
            <a:ext cx="4095750" cy="5789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AI-generated Root Cause Analysis immediately available</a:t>
            </a:r>
            <a:endParaRPr/>
          </a:p>
        </p:txBody>
      </p:sp>
      <p:sp>
        <p:nvSpPr>
          <p:cNvPr id="211" name="Google Shape;211;p17"/>
          <p:cNvSpPr txBox="1"/>
          <p:nvPr/>
        </p:nvSpPr>
        <p:spPr>
          <a:xfrm>
            <a:off x="6943725" y="3953916"/>
            <a:ext cx="4095750" cy="289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Intelligent, specific remediation recommendations</a:t>
            </a:r>
            <a:endParaRPr/>
          </a:p>
        </p:txBody>
      </p:sp>
      <p:sp>
        <p:nvSpPr>
          <p:cNvPr id="212" name="Google Shape;212;p17"/>
          <p:cNvSpPr txBox="1"/>
          <p:nvPr/>
        </p:nvSpPr>
        <p:spPr>
          <a:xfrm>
            <a:off x="6943725" y="4395787"/>
            <a:ext cx="4095750" cy="5789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Deep operational insights mapping symptoms to causes</a:t>
            </a:r>
            <a:endParaRPr/>
          </a:p>
        </p:txBody>
      </p:sp>
      <p:sp>
        <p:nvSpPr>
          <p:cNvPr id="213" name="Google Shape;213;p17"/>
          <p:cNvSpPr txBox="1"/>
          <p:nvPr/>
        </p:nvSpPr>
        <p:spPr>
          <a:xfrm>
            <a:off x="6943725" y="5127128"/>
            <a:ext cx="4095750" cy="5789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Automated workflow orchestration for rapid resolution</a:t>
            </a:r>
            <a:endParaRPr/>
          </a:p>
        </p:txBody>
      </p:sp>
      <p:sp>
        <p:nvSpPr>
          <p:cNvPr id="214" name="Google Shape;214;p17"/>
          <p:cNvSpPr txBox="1"/>
          <p:nvPr/>
        </p:nvSpPr>
        <p:spPr>
          <a:xfrm>
            <a:off x="1152525" y="2780704"/>
            <a:ext cx="1809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2563EB"/>
                </a:solidFill>
                <a:latin typeface="Roboto"/>
                <a:ea typeface="Roboto"/>
                <a:cs typeface="Roboto"/>
                <a:sym typeface="Roboto"/>
              </a:rPr>
              <a:t>→</a:t>
            </a:r>
            <a:endParaRPr/>
          </a:p>
        </p:txBody>
      </p:sp>
      <p:sp>
        <p:nvSpPr>
          <p:cNvPr id="215" name="Google Shape;215;p17"/>
          <p:cNvSpPr txBox="1"/>
          <p:nvPr/>
        </p:nvSpPr>
        <p:spPr>
          <a:xfrm>
            <a:off x="1152525" y="3222575"/>
            <a:ext cx="1809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2563EB"/>
                </a:solidFill>
                <a:latin typeface="Roboto"/>
                <a:ea typeface="Roboto"/>
                <a:cs typeface="Roboto"/>
                <a:sym typeface="Roboto"/>
              </a:rPr>
              <a:t>→</a:t>
            </a:r>
            <a:endParaRPr/>
          </a:p>
        </p:txBody>
      </p:sp>
      <p:sp>
        <p:nvSpPr>
          <p:cNvPr id="216" name="Google Shape;216;p17"/>
          <p:cNvSpPr txBox="1"/>
          <p:nvPr/>
        </p:nvSpPr>
        <p:spPr>
          <a:xfrm>
            <a:off x="1152525" y="3664446"/>
            <a:ext cx="1809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2563EB"/>
                </a:solidFill>
                <a:latin typeface="Roboto"/>
                <a:ea typeface="Roboto"/>
                <a:cs typeface="Roboto"/>
                <a:sym typeface="Roboto"/>
              </a:rPr>
              <a:t>→</a:t>
            </a:r>
            <a:endParaRPr/>
          </a:p>
        </p:txBody>
      </p:sp>
      <p:sp>
        <p:nvSpPr>
          <p:cNvPr id="217" name="Google Shape;217;p17"/>
          <p:cNvSpPr txBox="1"/>
          <p:nvPr/>
        </p:nvSpPr>
        <p:spPr>
          <a:xfrm>
            <a:off x="1152525" y="4106316"/>
            <a:ext cx="1809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2563EB"/>
                </a:solidFill>
                <a:latin typeface="Roboto"/>
                <a:ea typeface="Roboto"/>
                <a:cs typeface="Roboto"/>
                <a:sym typeface="Roboto"/>
              </a:rPr>
              <a:t>→</a:t>
            </a:r>
            <a:endParaRPr/>
          </a:p>
        </p:txBody>
      </p:sp>
      <p:sp>
        <p:nvSpPr>
          <p:cNvPr id="218" name="Google Shape;218;p17"/>
          <p:cNvSpPr txBox="1"/>
          <p:nvPr/>
        </p:nvSpPr>
        <p:spPr>
          <a:xfrm>
            <a:off x="1152525" y="4548187"/>
            <a:ext cx="1809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2563EB"/>
                </a:solidFill>
                <a:latin typeface="Roboto"/>
                <a:ea typeface="Roboto"/>
                <a:cs typeface="Roboto"/>
                <a:sym typeface="Roboto"/>
              </a:rPr>
              <a:t>→</a:t>
            </a:r>
            <a:endParaRPr/>
          </a:p>
        </p:txBody>
      </p:sp>
      <p:sp>
        <p:nvSpPr>
          <p:cNvPr id="219" name="Google Shape;219;p17"/>
          <p:cNvSpPr txBox="1"/>
          <p:nvPr/>
        </p:nvSpPr>
        <p:spPr>
          <a:xfrm>
            <a:off x="6677025" y="2780704"/>
            <a:ext cx="1809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2563EB"/>
                </a:solidFill>
                <a:latin typeface="Roboto"/>
                <a:ea typeface="Roboto"/>
                <a:cs typeface="Roboto"/>
                <a:sym typeface="Roboto"/>
              </a:rPr>
              <a:t>→</a:t>
            </a:r>
            <a:endParaRPr/>
          </a:p>
        </p:txBody>
      </p:sp>
      <p:sp>
        <p:nvSpPr>
          <p:cNvPr id="220" name="Google Shape;220;p17"/>
          <p:cNvSpPr txBox="1"/>
          <p:nvPr/>
        </p:nvSpPr>
        <p:spPr>
          <a:xfrm>
            <a:off x="6677025" y="3222575"/>
            <a:ext cx="1809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2563EB"/>
                </a:solidFill>
                <a:latin typeface="Roboto"/>
                <a:ea typeface="Roboto"/>
                <a:cs typeface="Roboto"/>
                <a:sym typeface="Roboto"/>
              </a:rPr>
              <a:t>→</a:t>
            </a:r>
            <a:endParaRPr/>
          </a:p>
        </p:txBody>
      </p:sp>
      <p:sp>
        <p:nvSpPr>
          <p:cNvPr id="221" name="Google Shape;221;p17"/>
          <p:cNvSpPr txBox="1"/>
          <p:nvPr/>
        </p:nvSpPr>
        <p:spPr>
          <a:xfrm>
            <a:off x="6677025" y="3953916"/>
            <a:ext cx="1809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2563EB"/>
                </a:solidFill>
                <a:latin typeface="Roboto"/>
                <a:ea typeface="Roboto"/>
                <a:cs typeface="Roboto"/>
                <a:sym typeface="Roboto"/>
              </a:rPr>
              <a:t>→</a:t>
            </a:r>
            <a:endParaRPr/>
          </a:p>
        </p:txBody>
      </p:sp>
      <p:sp>
        <p:nvSpPr>
          <p:cNvPr id="222" name="Google Shape;222;p17"/>
          <p:cNvSpPr txBox="1"/>
          <p:nvPr/>
        </p:nvSpPr>
        <p:spPr>
          <a:xfrm>
            <a:off x="6677025" y="4395787"/>
            <a:ext cx="1809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2563EB"/>
                </a:solidFill>
                <a:latin typeface="Roboto"/>
                <a:ea typeface="Roboto"/>
                <a:cs typeface="Roboto"/>
                <a:sym typeface="Roboto"/>
              </a:rPr>
              <a:t>→</a:t>
            </a:r>
            <a:endParaRPr/>
          </a:p>
        </p:txBody>
      </p:sp>
      <p:sp>
        <p:nvSpPr>
          <p:cNvPr id="223" name="Google Shape;223;p17"/>
          <p:cNvSpPr txBox="1"/>
          <p:nvPr/>
        </p:nvSpPr>
        <p:spPr>
          <a:xfrm>
            <a:off x="6677025" y="5127128"/>
            <a:ext cx="1809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2563EB"/>
                </a:solidFill>
                <a:latin typeface="Roboto"/>
                <a:ea typeface="Roboto"/>
                <a:cs typeface="Roboto"/>
                <a:sym typeface="Roboto"/>
              </a:rPr>
              <a:t>→</a:t>
            </a:r>
            <a:endParaRPr/>
          </a:p>
        </p:txBody>
      </p:sp>
      <p:sp>
        <p:nvSpPr>
          <p:cNvPr id="224" name="Google Shape;224;p17"/>
          <p:cNvSpPr txBox="1"/>
          <p:nvPr/>
        </p:nvSpPr>
        <p:spPr>
          <a:xfrm>
            <a:off x="762000" y="571500"/>
            <a:ext cx="112014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Why AI-Assisted?</a:t>
            </a:r>
            <a:endParaRPr/>
          </a:p>
        </p:txBody>
      </p:sp>
      <p:sp>
        <p:nvSpPr>
          <p:cNvPr id="225" name="Google Shape;225;p17"/>
          <p:cNvSpPr/>
          <p:nvPr/>
        </p:nvSpPr>
        <p:spPr>
          <a:xfrm>
            <a:off x="762000" y="1200150"/>
            <a:ext cx="10668000" cy="28575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0" name="Google Shape;230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1" name="Google Shape;231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97235" y="3009900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2" name="Google Shape;232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000" y="3676650"/>
            <a:ext cx="2346870" cy="1781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3" name="Google Shape;233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470945" y="3009900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4" name="Google Shape;234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535709" y="3676650"/>
            <a:ext cx="2346870" cy="1781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5" name="Google Shape;235;p1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244655" y="3009900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6" name="Google Shape;236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309419" y="3676650"/>
            <a:ext cx="2346870" cy="1781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7" name="Google Shape;237;p1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0018365" y="3009900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8" name="Google Shape;238;p18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9083129" y="3676650"/>
            <a:ext cx="2346870" cy="1781175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18"/>
          <p:cNvSpPr/>
          <p:nvPr/>
        </p:nvSpPr>
        <p:spPr>
          <a:xfrm>
            <a:off x="1295400" y="3248025"/>
            <a:ext cx="9601200" cy="381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8"/>
          <p:cNvSpPr txBox="1"/>
          <p:nvPr/>
        </p:nvSpPr>
        <p:spPr>
          <a:xfrm>
            <a:off x="963360" y="3924300"/>
            <a:ext cx="1944149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Data Collection</a:t>
            </a:r>
            <a:endParaRPr/>
          </a:p>
        </p:txBody>
      </p:sp>
      <p:sp>
        <p:nvSpPr>
          <p:cNvPr id="241" name="Google Shape;241;p18"/>
          <p:cNvSpPr txBox="1"/>
          <p:nvPr/>
        </p:nvSpPr>
        <p:spPr>
          <a:xfrm>
            <a:off x="3737070" y="3924300"/>
            <a:ext cx="1944149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AI Processing</a:t>
            </a:r>
            <a:endParaRPr/>
          </a:p>
        </p:txBody>
      </p:sp>
      <p:sp>
        <p:nvSpPr>
          <p:cNvPr id="242" name="Google Shape;242;p18"/>
          <p:cNvSpPr txBox="1"/>
          <p:nvPr/>
        </p:nvSpPr>
        <p:spPr>
          <a:xfrm>
            <a:off x="6510780" y="3924300"/>
            <a:ext cx="1944149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Analysis &amp; Action</a:t>
            </a:r>
            <a:endParaRPr/>
          </a:p>
        </p:txBody>
      </p:sp>
      <p:sp>
        <p:nvSpPr>
          <p:cNvPr id="243" name="Google Shape;243;p18"/>
          <p:cNvSpPr txBox="1"/>
          <p:nvPr/>
        </p:nvSpPr>
        <p:spPr>
          <a:xfrm>
            <a:off x="9284490" y="3924300"/>
            <a:ext cx="1944149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Execution &amp; Audit</a:t>
            </a:r>
            <a:endParaRPr/>
          </a:p>
        </p:txBody>
      </p:sp>
      <p:sp>
        <p:nvSpPr>
          <p:cNvPr id="244" name="Google Shape;244;p18"/>
          <p:cNvSpPr txBox="1"/>
          <p:nvPr/>
        </p:nvSpPr>
        <p:spPr>
          <a:xfrm>
            <a:off x="1009650" y="4295775"/>
            <a:ext cx="185157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0002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SQL Server / Azure SQL</a:t>
            </a:r>
            <a:endParaRPr/>
          </a:p>
        </p:txBody>
      </p:sp>
      <p:sp>
        <p:nvSpPr>
          <p:cNvPr id="245" name="Google Shape;245;p18"/>
          <p:cNvSpPr txBox="1"/>
          <p:nvPr/>
        </p:nvSpPr>
        <p:spPr>
          <a:xfrm>
            <a:off x="1009650" y="4600575"/>
            <a:ext cx="185157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190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Monitoring Collectors</a:t>
            </a:r>
            <a:endParaRPr/>
          </a:p>
        </p:txBody>
      </p:sp>
      <p:sp>
        <p:nvSpPr>
          <p:cNvPr id="246" name="Google Shape;246;p18"/>
          <p:cNvSpPr txBox="1"/>
          <p:nvPr/>
        </p:nvSpPr>
        <p:spPr>
          <a:xfrm>
            <a:off x="1009650" y="4905375"/>
            <a:ext cx="185157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571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Azure Log Analytics</a:t>
            </a:r>
            <a:endParaRPr/>
          </a:p>
        </p:txBody>
      </p:sp>
      <p:sp>
        <p:nvSpPr>
          <p:cNvPr id="247" name="Google Shape;247;p18"/>
          <p:cNvSpPr txBox="1"/>
          <p:nvPr/>
        </p:nvSpPr>
        <p:spPr>
          <a:xfrm>
            <a:off x="3783359" y="4295775"/>
            <a:ext cx="185157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571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MCP Server Hub</a:t>
            </a:r>
            <a:endParaRPr/>
          </a:p>
        </p:txBody>
      </p:sp>
      <p:sp>
        <p:nvSpPr>
          <p:cNvPr id="248" name="Google Shape;248;p18"/>
          <p:cNvSpPr txBox="1"/>
          <p:nvPr/>
        </p:nvSpPr>
        <p:spPr>
          <a:xfrm>
            <a:off x="3783359" y="4600575"/>
            <a:ext cx="185157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571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AI DB Agent</a:t>
            </a:r>
            <a:endParaRPr/>
          </a:p>
        </p:txBody>
      </p:sp>
      <p:sp>
        <p:nvSpPr>
          <p:cNvPr id="249" name="Google Shape;249;p18"/>
          <p:cNvSpPr txBox="1"/>
          <p:nvPr/>
        </p:nvSpPr>
        <p:spPr>
          <a:xfrm>
            <a:off x="3783359" y="4905375"/>
            <a:ext cx="185157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190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OpenRouter / OpenAI</a:t>
            </a:r>
            <a:endParaRPr/>
          </a:p>
        </p:txBody>
      </p:sp>
      <p:sp>
        <p:nvSpPr>
          <p:cNvPr id="250" name="Google Shape;250;p18"/>
          <p:cNvSpPr txBox="1"/>
          <p:nvPr/>
        </p:nvSpPr>
        <p:spPr>
          <a:xfrm>
            <a:off x="6557069" y="4295775"/>
            <a:ext cx="185157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190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RCA Engine</a:t>
            </a:r>
            <a:endParaRPr/>
          </a:p>
        </p:txBody>
      </p:sp>
      <p:sp>
        <p:nvSpPr>
          <p:cNvPr id="251" name="Google Shape;251;p18"/>
          <p:cNvSpPr txBox="1"/>
          <p:nvPr/>
        </p:nvSpPr>
        <p:spPr>
          <a:xfrm>
            <a:off x="6557069" y="4600575"/>
            <a:ext cx="185157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09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Recommendation Engine</a:t>
            </a:r>
            <a:endParaRPr/>
          </a:p>
        </p:txBody>
      </p:sp>
      <p:sp>
        <p:nvSpPr>
          <p:cNvPr id="252" name="Google Shape;252;p18"/>
          <p:cNvSpPr txBox="1"/>
          <p:nvPr/>
        </p:nvSpPr>
        <p:spPr>
          <a:xfrm>
            <a:off x="6557069" y="4905375"/>
            <a:ext cx="185157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571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Approval Workflow</a:t>
            </a:r>
            <a:endParaRPr/>
          </a:p>
        </p:txBody>
      </p:sp>
      <p:sp>
        <p:nvSpPr>
          <p:cNvPr id="253" name="Google Shape;253;p18"/>
          <p:cNvSpPr txBox="1"/>
          <p:nvPr/>
        </p:nvSpPr>
        <p:spPr>
          <a:xfrm>
            <a:off x="9330779" y="4295775"/>
            <a:ext cx="185157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571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Automation Engine</a:t>
            </a:r>
            <a:endParaRPr/>
          </a:p>
        </p:txBody>
      </p:sp>
      <p:sp>
        <p:nvSpPr>
          <p:cNvPr id="254" name="Google Shape;254;p18"/>
          <p:cNvSpPr txBox="1"/>
          <p:nvPr/>
        </p:nvSpPr>
        <p:spPr>
          <a:xfrm>
            <a:off x="9330779" y="4600575"/>
            <a:ext cx="185157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190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Email/Teams Alerts</a:t>
            </a:r>
            <a:endParaRPr/>
          </a:p>
        </p:txBody>
      </p:sp>
      <p:sp>
        <p:nvSpPr>
          <p:cNvPr id="255" name="Google Shape;255;p18"/>
          <p:cNvSpPr txBox="1"/>
          <p:nvPr/>
        </p:nvSpPr>
        <p:spPr>
          <a:xfrm>
            <a:off x="9330779" y="4905375"/>
            <a:ext cx="185157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3812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Audit Logging</a:t>
            </a:r>
            <a:endParaRPr/>
          </a:p>
        </p:txBody>
      </p:sp>
      <p:pic>
        <p:nvPicPr>
          <p:cNvPr descr="image.png" id="256" name="Google Shape;256;p18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009650" y="4333875"/>
            <a:ext cx="12382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7" name="Google Shape;257;p18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1009650" y="4638675"/>
            <a:ext cx="14287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8" name="Google Shape;258;p18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1009650" y="4943475"/>
            <a:ext cx="18097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9" name="Google Shape;259;p18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3783359" y="4333875"/>
            <a:ext cx="18097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0" name="Google Shape;260;p18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3783359" y="4638675"/>
            <a:ext cx="18097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1" name="Google Shape;261;p18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3783359" y="4943475"/>
            <a:ext cx="14287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2" name="Google Shape;262;p18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6557069" y="4333875"/>
            <a:ext cx="14287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3" name="Google Shape;263;p18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6557069" y="4638675"/>
            <a:ext cx="10477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4" name="Google Shape;264;p18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6557069" y="4943475"/>
            <a:ext cx="18097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5" name="Google Shape;265;p18"/>
          <p:cNvPicPr preferRelativeResize="0"/>
          <p:nvPr/>
        </p:nvPicPr>
        <p:blipFill rotWithShape="1">
          <a:blip r:embed="rId20">
            <a:alphaModFix/>
          </a:blip>
          <a:srcRect b="0" l="0" r="0" t="0"/>
          <a:stretch/>
        </p:blipFill>
        <p:spPr>
          <a:xfrm>
            <a:off x="9330779" y="4333875"/>
            <a:ext cx="18097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6" name="Google Shape;266;p18"/>
          <p:cNvPicPr preferRelativeResize="0"/>
          <p:nvPr/>
        </p:nvPicPr>
        <p:blipFill rotWithShape="1">
          <a:blip r:embed="rId21">
            <a:alphaModFix/>
          </a:blip>
          <a:srcRect b="0" l="0" r="0" t="0"/>
          <a:stretch/>
        </p:blipFill>
        <p:spPr>
          <a:xfrm>
            <a:off x="9330779" y="4638675"/>
            <a:ext cx="14287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7" name="Google Shape;267;p18"/>
          <p:cNvPicPr preferRelativeResize="0"/>
          <p:nvPr/>
        </p:nvPicPr>
        <p:blipFill rotWithShape="1">
          <a:blip r:embed="rId22">
            <a:alphaModFix/>
          </a:blip>
          <a:srcRect b="0" l="0" r="0" t="0"/>
          <a:stretch/>
        </p:blipFill>
        <p:spPr>
          <a:xfrm>
            <a:off x="9330779" y="4943475"/>
            <a:ext cx="161925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p18"/>
          <p:cNvSpPr txBox="1"/>
          <p:nvPr/>
        </p:nvSpPr>
        <p:spPr>
          <a:xfrm>
            <a:off x="762000" y="571500"/>
            <a:ext cx="112014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High-Level Architecture</a:t>
            </a:r>
            <a:endParaRPr/>
          </a:p>
        </p:txBody>
      </p:sp>
      <p:sp>
        <p:nvSpPr>
          <p:cNvPr id="269" name="Google Shape;269;p18"/>
          <p:cNvSpPr/>
          <p:nvPr/>
        </p:nvSpPr>
        <p:spPr>
          <a:xfrm>
            <a:off x="762000" y="1200150"/>
            <a:ext cx="10668000" cy="28575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74" name="Google Shape;274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5" name="Google Shape;275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2088951"/>
            <a:ext cx="3365450" cy="371832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6" name="Google Shape;276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413200" y="2088951"/>
            <a:ext cx="3365450" cy="371832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7" name="Google Shape;277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64400" y="2088951"/>
            <a:ext cx="3365450" cy="371832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8" name="Google Shape;278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063650" y="2479476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9" name="Google Shape;279;p19"/>
          <p:cNvSpPr txBox="1"/>
          <p:nvPr/>
        </p:nvSpPr>
        <p:spPr>
          <a:xfrm>
            <a:off x="1289506" y="3479601"/>
            <a:ext cx="2310288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1E293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Monitoring Engine</a:t>
            </a:r>
            <a:endParaRPr/>
          </a:p>
        </p:txBody>
      </p:sp>
      <p:pic>
        <p:nvPicPr>
          <p:cNvPr descr="image.png" id="280" name="Google Shape;280;p1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14851" y="2479476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1" name="Google Shape;281;p19"/>
          <p:cNvSpPr txBox="1"/>
          <p:nvPr/>
        </p:nvSpPr>
        <p:spPr>
          <a:xfrm>
            <a:off x="5350758" y="3479601"/>
            <a:ext cx="1490186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1E293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AI DB Agent</a:t>
            </a:r>
            <a:endParaRPr/>
          </a:p>
        </p:txBody>
      </p:sp>
      <p:pic>
        <p:nvPicPr>
          <p:cNvPr descr="image.png" id="282" name="Google Shape;282;p19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366051" y="2479476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3" name="Google Shape;283;p19"/>
          <p:cNvSpPr txBox="1"/>
          <p:nvPr/>
        </p:nvSpPr>
        <p:spPr>
          <a:xfrm>
            <a:off x="8581905" y="3479601"/>
            <a:ext cx="2330291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1E293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Governance Layer</a:t>
            </a:r>
            <a:endParaRPr/>
          </a:p>
        </p:txBody>
      </p:sp>
      <p:pic>
        <p:nvPicPr>
          <p:cNvPr descr="image.png" id="284" name="Google Shape;284;p19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2292250" y="2708076"/>
            <a:ext cx="3048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p19"/>
          <p:cNvSpPr txBox="1"/>
          <p:nvPr/>
        </p:nvSpPr>
        <p:spPr>
          <a:xfrm>
            <a:off x="1247775" y="4060626"/>
            <a:ext cx="2584400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CPU &amp; Memory tracking</a:t>
            </a:r>
            <a:endParaRPr/>
          </a:p>
        </p:txBody>
      </p:sp>
      <p:sp>
        <p:nvSpPr>
          <p:cNvPr id="286" name="Google Shape;286;p19"/>
          <p:cNvSpPr txBox="1"/>
          <p:nvPr/>
        </p:nvSpPr>
        <p:spPr>
          <a:xfrm>
            <a:off x="1247775" y="4399657"/>
            <a:ext cx="2584400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Blocking detection</a:t>
            </a:r>
            <a:endParaRPr/>
          </a:p>
        </p:txBody>
      </p:sp>
      <p:sp>
        <p:nvSpPr>
          <p:cNvPr id="287" name="Google Shape;287;p19"/>
          <p:cNvSpPr txBox="1"/>
          <p:nvPr/>
        </p:nvSpPr>
        <p:spPr>
          <a:xfrm>
            <a:off x="1247775" y="4738687"/>
            <a:ext cx="2584400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Backup status monitoring</a:t>
            </a:r>
            <a:endParaRPr/>
          </a:p>
        </p:txBody>
      </p:sp>
      <p:sp>
        <p:nvSpPr>
          <p:cNvPr id="288" name="Google Shape;288;p19"/>
          <p:cNvSpPr txBox="1"/>
          <p:nvPr/>
        </p:nvSpPr>
        <p:spPr>
          <a:xfrm>
            <a:off x="1247775" y="5077717"/>
            <a:ext cx="2584400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Query performance tracking</a:t>
            </a:r>
            <a:endParaRPr/>
          </a:p>
        </p:txBody>
      </p:sp>
      <p:pic>
        <p:nvPicPr>
          <p:cNvPr descr="image.png" id="289" name="Google Shape;289;p19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5905351" y="2708076"/>
            <a:ext cx="3810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290" name="Google Shape;290;p19"/>
          <p:cNvSpPr txBox="1"/>
          <p:nvPr/>
        </p:nvSpPr>
        <p:spPr>
          <a:xfrm>
            <a:off x="4898975" y="4060626"/>
            <a:ext cx="2584400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AI RCA generation</a:t>
            </a:r>
            <a:endParaRPr/>
          </a:p>
        </p:txBody>
      </p:sp>
      <p:sp>
        <p:nvSpPr>
          <p:cNvPr id="291" name="Google Shape;291;p19"/>
          <p:cNvSpPr txBox="1"/>
          <p:nvPr/>
        </p:nvSpPr>
        <p:spPr>
          <a:xfrm>
            <a:off x="4898975" y="4399657"/>
            <a:ext cx="2584400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Deep incident analysis</a:t>
            </a:r>
            <a:endParaRPr/>
          </a:p>
        </p:txBody>
      </p:sp>
      <p:sp>
        <p:nvSpPr>
          <p:cNvPr id="292" name="Google Shape;292;p19"/>
          <p:cNvSpPr txBox="1"/>
          <p:nvPr/>
        </p:nvSpPr>
        <p:spPr>
          <a:xfrm>
            <a:off x="4898975" y="4738687"/>
            <a:ext cx="2584400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Query tuning suggestions</a:t>
            </a:r>
            <a:endParaRPr/>
          </a:p>
        </p:txBody>
      </p:sp>
      <p:sp>
        <p:nvSpPr>
          <p:cNvPr id="293" name="Google Shape;293;p19"/>
          <p:cNvSpPr txBox="1"/>
          <p:nvPr/>
        </p:nvSpPr>
        <p:spPr>
          <a:xfrm>
            <a:off x="4898975" y="5077717"/>
            <a:ext cx="2584400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Performance diagnostics</a:t>
            </a:r>
            <a:endParaRPr/>
          </a:p>
        </p:txBody>
      </p:sp>
      <p:pic>
        <p:nvPicPr>
          <p:cNvPr descr="image.png" id="294" name="Google Shape;294;p19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9594651" y="2708076"/>
            <a:ext cx="3048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295" name="Google Shape;295;p19"/>
          <p:cNvSpPr txBox="1"/>
          <p:nvPr/>
        </p:nvSpPr>
        <p:spPr>
          <a:xfrm>
            <a:off x="8550175" y="4060626"/>
            <a:ext cx="2584400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Secure approval workflows</a:t>
            </a:r>
            <a:endParaRPr/>
          </a:p>
        </p:txBody>
      </p:sp>
      <p:sp>
        <p:nvSpPr>
          <p:cNvPr id="296" name="Google Shape;296;p19"/>
          <p:cNvSpPr txBox="1"/>
          <p:nvPr/>
        </p:nvSpPr>
        <p:spPr>
          <a:xfrm>
            <a:off x="8550175" y="4399657"/>
            <a:ext cx="2584400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Comprehensive audit logging</a:t>
            </a:r>
            <a:endParaRPr/>
          </a:p>
        </p:txBody>
      </p:sp>
      <p:sp>
        <p:nvSpPr>
          <p:cNvPr id="297" name="Google Shape;297;p19"/>
          <p:cNvSpPr txBox="1"/>
          <p:nvPr/>
        </p:nvSpPr>
        <p:spPr>
          <a:xfrm>
            <a:off x="8550175" y="4738687"/>
            <a:ext cx="2584400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Controlled script execution</a:t>
            </a:r>
            <a:endParaRPr/>
          </a:p>
        </p:txBody>
      </p:sp>
      <p:sp>
        <p:nvSpPr>
          <p:cNvPr id="298" name="Google Shape;298;p19"/>
          <p:cNvSpPr txBox="1"/>
          <p:nvPr/>
        </p:nvSpPr>
        <p:spPr>
          <a:xfrm>
            <a:off x="8550175" y="5077717"/>
            <a:ext cx="2584400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Pre-execution risk validation</a:t>
            </a:r>
            <a:endParaRPr/>
          </a:p>
        </p:txBody>
      </p:sp>
      <p:sp>
        <p:nvSpPr>
          <p:cNvPr id="299" name="Google Shape;299;p19"/>
          <p:cNvSpPr txBox="1"/>
          <p:nvPr/>
        </p:nvSpPr>
        <p:spPr>
          <a:xfrm>
            <a:off x="1057275" y="4041576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563EB"/>
                </a:solidFill>
                <a:latin typeface="Roboto"/>
                <a:ea typeface="Roboto"/>
                <a:cs typeface="Roboto"/>
                <a:sym typeface="Roboto"/>
              </a:rPr>
              <a:t>•</a:t>
            </a:r>
            <a:endParaRPr/>
          </a:p>
        </p:txBody>
      </p:sp>
      <p:sp>
        <p:nvSpPr>
          <p:cNvPr id="300" name="Google Shape;300;p19"/>
          <p:cNvSpPr txBox="1"/>
          <p:nvPr/>
        </p:nvSpPr>
        <p:spPr>
          <a:xfrm>
            <a:off x="1057275" y="4380607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563EB"/>
                </a:solidFill>
                <a:latin typeface="Roboto"/>
                <a:ea typeface="Roboto"/>
                <a:cs typeface="Roboto"/>
                <a:sym typeface="Roboto"/>
              </a:rPr>
              <a:t>•</a:t>
            </a:r>
            <a:endParaRPr/>
          </a:p>
        </p:txBody>
      </p:sp>
      <p:sp>
        <p:nvSpPr>
          <p:cNvPr id="301" name="Google Shape;301;p19"/>
          <p:cNvSpPr txBox="1"/>
          <p:nvPr/>
        </p:nvSpPr>
        <p:spPr>
          <a:xfrm>
            <a:off x="1057275" y="4719637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563EB"/>
                </a:solidFill>
                <a:latin typeface="Roboto"/>
                <a:ea typeface="Roboto"/>
                <a:cs typeface="Roboto"/>
                <a:sym typeface="Roboto"/>
              </a:rPr>
              <a:t>•</a:t>
            </a:r>
            <a:endParaRPr/>
          </a:p>
        </p:txBody>
      </p:sp>
      <p:sp>
        <p:nvSpPr>
          <p:cNvPr id="302" name="Google Shape;302;p19"/>
          <p:cNvSpPr txBox="1"/>
          <p:nvPr/>
        </p:nvSpPr>
        <p:spPr>
          <a:xfrm>
            <a:off x="1057275" y="5058667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563EB"/>
                </a:solidFill>
                <a:latin typeface="Roboto"/>
                <a:ea typeface="Roboto"/>
                <a:cs typeface="Roboto"/>
                <a:sym typeface="Roboto"/>
              </a:rPr>
              <a:t>•</a:t>
            </a:r>
            <a:endParaRPr/>
          </a:p>
        </p:txBody>
      </p:sp>
      <p:sp>
        <p:nvSpPr>
          <p:cNvPr id="303" name="Google Shape;303;p19"/>
          <p:cNvSpPr txBox="1"/>
          <p:nvPr/>
        </p:nvSpPr>
        <p:spPr>
          <a:xfrm>
            <a:off x="4708475" y="4041576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563EB"/>
                </a:solidFill>
                <a:latin typeface="Roboto"/>
                <a:ea typeface="Roboto"/>
                <a:cs typeface="Roboto"/>
                <a:sym typeface="Roboto"/>
              </a:rPr>
              <a:t>•</a:t>
            </a:r>
            <a:endParaRPr/>
          </a:p>
        </p:txBody>
      </p:sp>
      <p:sp>
        <p:nvSpPr>
          <p:cNvPr id="304" name="Google Shape;304;p19"/>
          <p:cNvSpPr txBox="1"/>
          <p:nvPr/>
        </p:nvSpPr>
        <p:spPr>
          <a:xfrm>
            <a:off x="4708475" y="4380607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563EB"/>
                </a:solidFill>
                <a:latin typeface="Roboto"/>
                <a:ea typeface="Roboto"/>
                <a:cs typeface="Roboto"/>
                <a:sym typeface="Roboto"/>
              </a:rPr>
              <a:t>•</a:t>
            </a:r>
            <a:endParaRPr/>
          </a:p>
        </p:txBody>
      </p:sp>
      <p:sp>
        <p:nvSpPr>
          <p:cNvPr id="305" name="Google Shape;305;p19"/>
          <p:cNvSpPr txBox="1"/>
          <p:nvPr/>
        </p:nvSpPr>
        <p:spPr>
          <a:xfrm>
            <a:off x="4708475" y="4719637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563EB"/>
                </a:solidFill>
                <a:latin typeface="Roboto"/>
                <a:ea typeface="Roboto"/>
                <a:cs typeface="Roboto"/>
                <a:sym typeface="Roboto"/>
              </a:rPr>
              <a:t>•</a:t>
            </a:r>
            <a:endParaRPr/>
          </a:p>
        </p:txBody>
      </p:sp>
      <p:sp>
        <p:nvSpPr>
          <p:cNvPr id="306" name="Google Shape;306;p19"/>
          <p:cNvSpPr txBox="1"/>
          <p:nvPr/>
        </p:nvSpPr>
        <p:spPr>
          <a:xfrm>
            <a:off x="4708475" y="5058667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563EB"/>
                </a:solidFill>
                <a:latin typeface="Roboto"/>
                <a:ea typeface="Roboto"/>
                <a:cs typeface="Roboto"/>
                <a:sym typeface="Roboto"/>
              </a:rPr>
              <a:t>•</a:t>
            </a:r>
            <a:endParaRPr/>
          </a:p>
        </p:txBody>
      </p:sp>
      <p:sp>
        <p:nvSpPr>
          <p:cNvPr id="307" name="Google Shape;307;p19"/>
          <p:cNvSpPr txBox="1"/>
          <p:nvPr/>
        </p:nvSpPr>
        <p:spPr>
          <a:xfrm>
            <a:off x="8359675" y="4041576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563EB"/>
                </a:solidFill>
                <a:latin typeface="Roboto"/>
                <a:ea typeface="Roboto"/>
                <a:cs typeface="Roboto"/>
                <a:sym typeface="Roboto"/>
              </a:rPr>
              <a:t>•</a:t>
            </a:r>
            <a:endParaRPr/>
          </a:p>
        </p:txBody>
      </p:sp>
      <p:sp>
        <p:nvSpPr>
          <p:cNvPr id="308" name="Google Shape;308;p19"/>
          <p:cNvSpPr txBox="1"/>
          <p:nvPr/>
        </p:nvSpPr>
        <p:spPr>
          <a:xfrm>
            <a:off x="8359675" y="4380607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563EB"/>
                </a:solidFill>
                <a:latin typeface="Roboto"/>
                <a:ea typeface="Roboto"/>
                <a:cs typeface="Roboto"/>
                <a:sym typeface="Roboto"/>
              </a:rPr>
              <a:t>•</a:t>
            </a:r>
            <a:endParaRPr/>
          </a:p>
        </p:txBody>
      </p:sp>
      <p:sp>
        <p:nvSpPr>
          <p:cNvPr id="309" name="Google Shape;309;p19"/>
          <p:cNvSpPr txBox="1"/>
          <p:nvPr/>
        </p:nvSpPr>
        <p:spPr>
          <a:xfrm>
            <a:off x="8359675" y="4719637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563EB"/>
                </a:solidFill>
                <a:latin typeface="Roboto"/>
                <a:ea typeface="Roboto"/>
                <a:cs typeface="Roboto"/>
                <a:sym typeface="Roboto"/>
              </a:rPr>
              <a:t>•</a:t>
            </a:r>
            <a:endParaRPr/>
          </a:p>
        </p:txBody>
      </p:sp>
      <p:sp>
        <p:nvSpPr>
          <p:cNvPr id="310" name="Google Shape;310;p19"/>
          <p:cNvSpPr txBox="1"/>
          <p:nvPr/>
        </p:nvSpPr>
        <p:spPr>
          <a:xfrm>
            <a:off x="8359675" y="5058667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563EB"/>
                </a:solidFill>
                <a:latin typeface="Roboto"/>
                <a:ea typeface="Roboto"/>
                <a:cs typeface="Roboto"/>
                <a:sym typeface="Roboto"/>
              </a:rPr>
              <a:t>•</a:t>
            </a:r>
            <a:endParaRPr/>
          </a:p>
        </p:txBody>
      </p:sp>
      <p:sp>
        <p:nvSpPr>
          <p:cNvPr id="311" name="Google Shape;311;p19"/>
          <p:cNvSpPr txBox="1"/>
          <p:nvPr/>
        </p:nvSpPr>
        <p:spPr>
          <a:xfrm>
            <a:off x="762000" y="571500"/>
            <a:ext cx="112014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Core Platform Components</a:t>
            </a:r>
            <a:endParaRPr/>
          </a:p>
        </p:txBody>
      </p:sp>
      <p:sp>
        <p:nvSpPr>
          <p:cNvPr id="312" name="Google Shape;312;p19"/>
          <p:cNvSpPr/>
          <p:nvPr/>
        </p:nvSpPr>
        <p:spPr>
          <a:xfrm>
            <a:off x="762000" y="1200150"/>
            <a:ext cx="10668000" cy="28575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17" name="Google Shape;317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8" name="Google Shape;318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2309366"/>
            <a:ext cx="50482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p20"/>
          <p:cNvSpPr txBox="1"/>
          <p:nvPr/>
        </p:nvSpPr>
        <p:spPr>
          <a:xfrm>
            <a:off x="762000" y="1609725"/>
            <a:ext cx="5048250" cy="8684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0F172A"/>
                </a:solidFill>
                <a:latin typeface="Roboto Medium"/>
                <a:ea typeface="Roboto Medium"/>
                <a:cs typeface="Roboto Medium"/>
                <a:sym typeface="Roboto Medium"/>
              </a:rPr>
              <a:t>The Model Context Protocol (MCP) Server acts as the vital orchestration and communication layer between intelligent AI services and internal operational tools.</a:t>
            </a:r>
            <a:endParaRPr/>
          </a:p>
        </p:txBody>
      </p:sp>
      <p:sp>
        <p:nvSpPr>
          <p:cNvPr id="320" name="Google Shape;320;p20"/>
          <p:cNvSpPr txBox="1"/>
          <p:nvPr/>
        </p:nvSpPr>
        <p:spPr>
          <a:xfrm>
            <a:off x="762000" y="2763887"/>
            <a:ext cx="5300662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1E293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Core Responsibilities</a:t>
            </a:r>
            <a:endParaRPr/>
          </a:p>
        </p:txBody>
      </p:sp>
      <p:sp>
        <p:nvSpPr>
          <p:cNvPr id="321" name="Google Shape;321;p20"/>
          <p:cNvSpPr txBox="1"/>
          <p:nvPr/>
        </p:nvSpPr>
        <p:spPr>
          <a:xfrm>
            <a:off x="762000" y="5055244"/>
            <a:ext cx="5300662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1E293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Architectural Benefits</a:t>
            </a:r>
            <a:endParaRPr/>
          </a:p>
        </p:txBody>
      </p:sp>
      <p:sp>
        <p:nvSpPr>
          <p:cNvPr id="322" name="Google Shape;322;p20"/>
          <p:cNvSpPr txBox="1"/>
          <p:nvPr/>
        </p:nvSpPr>
        <p:spPr>
          <a:xfrm>
            <a:off x="1219200" y="3202037"/>
            <a:ext cx="4591050" cy="289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Tool orchestration and routing</a:t>
            </a:r>
            <a:endParaRPr/>
          </a:p>
        </p:txBody>
      </p:sp>
      <p:sp>
        <p:nvSpPr>
          <p:cNvPr id="323" name="Google Shape;323;p20"/>
          <p:cNvSpPr txBox="1"/>
          <p:nvPr/>
        </p:nvSpPr>
        <p:spPr>
          <a:xfrm>
            <a:off x="1219200" y="3643907"/>
            <a:ext cx="4591050" cy="289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Complex workflow integration</a:t>
            </a:r>
            <a:endParaRPr/>
          </a:p>
        </p:txBody>
      </p:sp>
      <p:sp>
        <p:nvSpPr>
          <p:cNvPr id="324" name="Google Shape;324;p20"/>
          <p:cNvSpPr txBox="1"/>
          <p:nvPr/>
        </p:nvSpPr>
        <p:spPr>
          <a:xfrm>
            <a:off x="1219200" y="4085778"/>
            <a:ext cx="4591050" cy="289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Secure AI-to-system communication</a:t>
            </a:r>
            <a:endParaRPr/>
          </a:p>
        </p:txBody>
      </p:sp>
      <p:sp>
        <p:nvSpPr>
          <p:cNvPr id="325" name="Google Shape;325;p20"/>
          <p:cNvSpPr txBox="1"/>
          <p:nvPr/>
        </p:nvSpPr>
        <p:spPr>
          <a:xfrm>
            <a:off x="1219200" y="4527649"/>
            <a:ext cx="4591050" cy="289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Context handling for operational state</a:t>
            </a:r>
            <a:endParaRPr/>
          </a:p>
        </p:txBody>
      </p:sp>
      <p:sp>
        <p:nvSpPr>
          <p:cNvPr id="326" name="Google Shape;326;p20"/>
          <p:cNvSpPr txBox="1"/>
          <p:nvPr/>
        </p:nvSpPr>
        <p:spPr>
          <a:xfrm>
            <a:off x="1219200" y="5493394"/>
            <a:ext cx="4591050" cy="289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Highly scalable, decoupled architecture</a:t>
            </a:r>
            <a:endParaRPr/>
          </a:p>
        </p:txBody>
      </p:sp>
      <p:sp>
        <p:nvSpPr>
          <p:cNvPr id="327" name="Google Shape;327;p20"/>
          <p:cNvSpPr txBox="1"/>
          <p:nvPr/>
        </p:nvSpPr>
        <p:spPr>
          <a:xfrm>
            <a:off x="1219200" y="5935265"/>
            <a:ext cx="4591050" cy="289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Structured, reproducible workflows</a:t>
            </a:r>
            <a:endParaRPr/>
          </a:p>
        </p:txBody>
      </p:sp>
      <p:sp>
        <p:nvSpPr>
          <p:cNvPr id="328" name="Google Shape;328;p20"/>
          <p:cNvSpPr txBox="1"/>
          <p:nvPr/>
        </p:nvSpPr>
        <p:spPr>
          <a:xfrm>
            <a:off x="1219200" y="6377136"/>
            <a:ext cx="4591050" cy="289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Modular AI model integration (agnostic)</a:t>
            </a:r>
            <a:endParaRPr/>
          </a:p>
        </p:txBody>
      </p:sp>
      <p:pic>
        <p:nvPicPr>
          <p:cNvPr descr="image.png" id="329" name="Google Shape;329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91275" y="2318891"/>
            <a:ext cx="5029200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330" name="Google Shape;330;p20"/>
          <p:cNvSpPr txBox="1"/>
          <p:nvPr/>
        </p:nvSpPr>
        <p:spPr>
          <a:xfrm>
            <a:off x="952500" y="3202037"/>
            <a:ext cx="1809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2563EB"/>
                </a:solidFill>
                <a:latin typeface="Roboto"/>
                <a:ea typeface="Roboto"/>
                <a:cs typeface="Roboto"/>
                <a:sym typeface="Roboto"/>
              </a:rPr>
              <a:t>→</a:t>
            </a:r>
            <a:endParaRPr/>
          </a:p>
        </p:txBody>
      </p:sp>
      <p:sp>
        <p:nvSpPr>
          <p:cNvPr id="331" name="Google Shape;331;p20"/>
          <p:cNvSpPr txBox="1"/>
          <p:nvPr/>
        </p:nvSpPr>
        <p:spPr>
          <a:xfrm>
            <a:off x="952500" y="3643907"/>
            <a:ext cx="1809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2563EB"/>
                </a:solidFill>
                <a:latin typeface="Roboto"/>
                <a:ea typeface="Roboto"/>
                <a:cs typeface="Roboto"/>
                <a:sym typeface="Roboto"/>
              </a:rPr>
              <a:t>→</a:t>
            </a:r>
            <a:endParaRPr/>
          </a:p>
        </p:txBody>
      </p:sp>
      <p:sp>
        <p:nvSpPr>
          <p:cNvPr id="332" name="Google Shape;332;p20"/>
          <p:cNvSpPr txBox="1"/>
          <p:nvPr/>
        </p:nvSpPr>
        <p:spPr>
          <a:xfrm>
            <a:off x="952500" y="4085778"/>
            <a:ext cx="1809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2563EB"/>
                </a:solidFill>
                <a:latin typeface="Roboto"/>
                <a:ea typeface="Roboto"/>
                <a:cs typeface="Roboto"/>
                <a:sym typeface="Roboto"/>
              </a:rPr>
              <a:t>→</a:t>
            </a:r>
            <a:endParaRPr/>
          </a:p>
        </p:txBody>
      </p:sp>
      <p:sp>
        <p:nvSpPr>
          <p:cNvPr id="333" name="Google Shape;333;p20"/>
          <p:cNvSpPr txBox="1"/>
          <p:nvPr/>
        </p:nvSpPr>
        <p:spPr>
          <a:xfrm>
            <a:off x="952500" y="4527649"/>
            <a:ext cx="1809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2563EB"/>
                </a:solidFill>
                <a:latin typeface="Roboto"/>
                <a:ea typeface="Roboto"/>
                <a:cs typeface="Roboto"/>
                <a:sym typeface="Roboto"/>
              </a:rPr>
              <a:t>→</a:t>
            </a:r>
            <a:endParaRPr/>
          </a:p>
        </p:txBody>
      </p:sp>
      <p:sp>
        <p:nvSpPr>
          <p:cNvPr id="334" name="Google Shape;334;p20"/>
          <p:cNvSpPr txBox="1"/>
          <p:nvPr/>
        </p:nvSpPr>
        <p:spPr>
          <a:xfrm>
            <a:off x="952500" y="5493394"/>
            <a:ext cx="1809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2563EB"/>
                </a:solidFill>
                <a:latin typeface="Roboto"/>
                <a:ea typeface="Roboto"/>
                <a:cs typeface="Roboto"/>
                <a:sym typeface="Roboto"/>
              </a:rPr>
              <a:t>→</a:t>
            </a:r>
            <a:endParaRPr/>
          </a:p>
        </p:txBody>
      </p:sp>
      <p:sp>
        <p:nvSpPr>
          <p:cNvPr id="335" name="Google Shape;335;p20"/>
          <p:cNvSpPr txBox="1"/>
          <p:nvPr/>
        </p:nvSpPr>
        <p:spPr>
          <a:xfrm>
            <a:off x="952500" y="5935265"/>
            <a:ext cx="1809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2563EB"/>
                </a:solidFill>
                <a:latin typeface="Roboto"/>
                <a:ea typeface="Roboto"/>
                <a:cs typeface="Roboto"/>
                <a:sym typeface="Roboto"/>
              </a:rPr>
              <a:t>→</a:t>
            </a:r>
            <a:endParaRPr/>
          </a:p>
        </p:txBody>
      </p:sp>
      <p:sp>
        <p:nvSpPr>
          <p:cNvPr id="336" name="Google Shape;336;p20"/>
          <p:cNvSpPr txBox="1"/>
          <p:nvPr/>
        </p:nvSpPr>
        <p:spPr>
          <a:xfrm>
            <a:off x="952500" y="6377136"/>
            <a:ext cx="1809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2563EB"/>
                </a:solidFill>
                <a:latin typeface="Roboto"/>
                <a:ea typeface="Roboto"/>
                <a:cs typeface="Roboto"/>
                <a:sym typeface="Roboto"/>
              </a:rPr>
              <a:t>→</a:t>
            </a:r>
            <a:endParaRPr/>
          </a:p>
        </p:txBody>
      </p:sp>
      <p:sp>
        <p:nvSpPr>
          <p:cNvPr id="337" name="Google Shape;337;p20"/>
          <p:cNvSpPr txBox="1"/>
          <p:nvPr/>
        </p:nvSpPr>
        <p:spPr>
          <a:xfrm>
            <a:off x="762000" y="571500"/>
            <a:ext cx="112014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MCP Server Layer</a:t>
            </a:r>
            <a:endParaRPr/>
          </a:p>
        </p:txBody>
      </p:sp>
      <p:sp>
        <p:nvSpPr>
          <p:cNvPr id="338" name="Google Shape;338;p20"/>
          <p:cNvSpPr/>
          <p:nvPr/>
        </p:nvSpPr>
        <p:spPr>
          <a:xfrm>
            <a:off x="762000" y="1200150"/>
            <a:ext cx="10668000" cy="28575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43" name="Google Shape;343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44" name="Google Shape;344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1789955"/>
            <a:ext cx="5143500" cy="431616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45" name="Google Shape;345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1789955"/>
            <a:ext cx="5143500" cy="4316164"/>
          </a:xfrm>
          <a:prstGeom prst="rect">
            <a:avLst/>
          </a:prstGeom>
          <a:noFill/>
          <a:ln>
            <a:noFill/>
          </a:ln>
        </p:spPr>
      </p:pic>
      <p:sp>
        <p:nvSpPr>
          <p:cNvPr id="346" name="Google Shape;346;p21"/>
          <p:cNvSpPr txBox="1"/>
          <p:nvPr/>
        </p:nvSpPr>
        <p:spPr>
          <a:xfrm>
            <a:off x="1152525" y="2180480"/>
            <a:ext cx="4580572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4290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44403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Infrastructure Monitoring</a:t>
            </a:r>
            <a:endParaRPr/>
          </a:p>
        </p:txBody>
      </p:sp>
      <p:sp>
        <p:nvSpPr>
          <p:cNvPr id="347" name="Google Shape;347;p21"/>
          <p:cNvSpPr/>
          <p:nvPr/>
        </p:nvSpPr>
        <p:spPr>
          <a:xfrm>
            <a:off x="1152525" y="2618630"/>
            <a:ext cx="4362450" cy="1905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21"/>
          <p:cNvSpPr txBox="1"/>
          <p:nvPr/>
        </p:nvSpPr>
        <p:spPr>
          <a:xfrm>
            <a:off x="1152525" y="2875805"/>
            <a:ext cx="4362450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Core hardware and operating system metrics ensuring platform stability.</a:t>
            </a:r>
            <a:endParaRPr/>
          </a:p>
        </p:txBody>
      </p:sp>
      <p:sp>
        <p:nvSpPr>
          <p:cNvPr id="349" name="Google Shape;349;p21"/>
          <p:cNvSpPr txBox="1"/>
          <p:nvPr/>
        </p:nvSpPr>
        <p:spPr>
          <a:xfrm>
            <a:off x="6677025" y="2180480"/>
            <a:ext cx="4580572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1432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2563E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Database Monitoring</a:t>
            </a:r>
            <a:endParaRPr/>
          </a:p>
        </p:txBody>
      </p:sp>
      <p:sp>
        <p:nvSpPr>
          <p:cNvPr id="350" name="Google Shape;350;p21"/>
          <p:cNvSpPr/>
          <p:nvPr/>
        </p:nvSpPr>
        <p:spPr>
          <a:xfrm>
            <a:off x="6677025" y="2618630"/>
            <a:ext cx="4362450" cy="1905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21"/>
          <p:cNvSpPr txBox="1"/>
          <p:nvPr/>
        </p:nvSpPr>
        <p:spPr>
          <a:xfrm>
            <a:off x="6677025" y="2875805"/>
            <a:ext cx="4362450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SQL Server specific metrics to guarantee query performance and data integrity.</a:t>
            </a:r>
            <a:endParaRPr/>
          </a:p>
        </p:txBody>
      </p:sp>
      <p:pic>
        <p:nvPicPr>
          <p:cNvPr descr="image.png" id="352" name="Google Shape;352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52525" y="2209055"/>
            <a:ext cx="24765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353" name="Google Shape;353;p21"/>
          <p:cNvSpPr txBox="1"/>
          <p:nvPr/>
        </p:nvSpPr>
        <p:spPr>
          <a:xfrm>
            <a:off x="1419225" y="3506241"/>
            <a:ext cx="4095750" cy="289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CPU utilization spikes and trends</a:t>
            </a:r>
            <a:endParaRPr/>
          </a:p>
        </p:txBody>
      </p:sp>
      <p:sp>
        <p:nvSpPr>
          <p:cNvPr id="354" name="Google Shape;354;p21"/>
          <p:cNvSpPr txBox="1"/>
          <p:nvPr/>
        </p:nvSpPr>
        <p:spPr>
          <a:xfrm>
            <a:off x="1419225" y="3948112"/>
            <a:ext cx="4095750" cy="289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Memory utilization and page life expectancy</a:t>
            </a:r>
            <a:endParaRPr/>
          </a:p>
        </p:txBody>
      </p:sp>
      <p:sp>
        <p:nvSpPr>
          <p:cNvPr id="355" name="Google Shape;355;p21"/>
          <p:cNvSpPr txBox="1"/>
          <p:nvPr/>
        </p:nvSpPr>
        <p:spPr>
          <a:xfrm>
            <a:off x="1419225" y="4389983"/>
            <a:ext cx="4095750" cy="289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Disk latency and IOPS throughput</a:t>
            </a:r>
            <a:endParaRPr/>
          </a:p>
        </p:txBody>
      </p:sp>
      <p:sp>
        <p:nvSpPr>
          <p:cNvPr id="356" name="Google Shape;356;p21"/>
          <p:cNvSpPr txBox="1"/>
          <p:nvPr/>
        </p:nvSpPr>
        <p:spPr>
          <a:xfrm>
            <a:off x="1419225" y="4831853"/>
            <a:ext cx="4095750" cy="289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TempDB file size and contention monitoring</a:t>
            </a:r>
            <a:endParaRPr/>
          </a:p>
        </p:txBody>
      </p:sp>
      <p:pic>
        <p:nvPicPr>
          <p:cNvPr descr="image.png" id="357" name="Google Shape;357;p2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677025" y="2209055"/>
            <a:ext cx="219075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358" name="Google Shape;358;p21"/>
          <p:cNvSpPr txBox="1"/>
          <p:nvPr/>
        </p:nvSpPr>
        <p:spPr>
          <a:xfrm>
            <a:off x="6943725" y="3506241"/>
            <a:ext cx="4095750" cy="289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Blocking sessions and isolation</a:t>
            </a:r>
            <a:endParaRPr/>
          </a:p>
        </p:txBody>
      </p:sp>
      <p:sp>
        <p:nvSpPr>
          <p:cNvPr id="359" name="Google Shape;359;p21"/>
          <p:cNvSpPr txBox="1"/>
          <p:nvPr/>
        </p:nvSpPr>
        <p:spPr>
          <a:xfrm>
            <a:off x="6943725" y="3948112"/>
            <a:ext cx="4095750" cy="289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Deadlock occurrence tracking</a:t>
            </a:r>
            <a:endParaRPr/>
          </a:p>
        </p:txBody>
      </p:sp>
      <p:sp>
        <p:nvSpPr>
          <p:cNvPr id="360" name="Google Shape;360;p21"/>
          <p:cNvSpPr txBox="1"/>
          <p:nvPr/>
        </p:nvSpPr>
        <p:spPr>
          <a:xfrm>
            <a:off x="6943725" y="4389983"/>
            <a:ext cx="4095750" cy="289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Long-running queries and resource hogs</a:t>
            </a:r>
            <a:endParaRPr/>
          </a:p>
        </p:txBody>
      </p:sp>
      <p:sp>
        <p:nvSpPr>
          <p:cNvPr id="361" name="Google Shape;361;p21"/>
          <p:cNvSpPr txBox="1"/>
          <p:nvPr/>
        </p:nvSpPr>
        <p:spPr>
          <a:xfrm>
            <a:off x="6943725" y="4831853"/>
            <a:ext cx="4095750" cy="289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Failed SQL Agent jobs</a:t>
            </a:r>
            <a:endParaRPr/>
          </a:p>
        </p:txBody>
      </p:sp>
      <p:sp>
        <p:nvSpPr>
          <p:cNvPr id="362" name="Google Shape;362;p21"/>
          <p:cNvSpPr txBox="1"/>
          <p:nvPr/>
        </p:nvSpPr>
        <p:spPr>
          <a:xfrm>
            <a:off x="6943725" y="5273724"/>
            <a:ext cx="4095750" cy="289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Backup status and Database growth</a:t>
            </a:r>
            <a:endParaRPr/>
          </a:p>
        </p:txBody>
      </p:sp>
      <p:sp>
        <p:nvSpPr>
          <p:cNvPr id="363" name="Google Shape;363;p21"/>
          <p:cNvSpPr txBox="1"/>
          <p:nvPr/>
        </p:nvSpPr>
        <p:spPr>
          <a:xfrm>
            <a:off x="1152525" y="3506241"/>
            <a:ext cx="1809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2563EB"/>
                </a:solidFill>
                <a:latin typeface="Roboto"/>
                <a:ea typeface="Roboto"/>
                <a:cs typeface="Roboto"/>
                <a:sym typeface="Roboto"/>
              </a:rPr>
              <a:t>→</a:t>
            </a:r>
            <a:endParaRPr/>
          </a:p>
        </p:txBody>
      </p:sp>
      <p:sp>
        <p:nvSpPr>
          <p:cNvPr id="364" name="Google Shape;364;p21"/>
          <p:cNvSpPr txBox="1"/>
          <p:nvPr/>
        </p:nvSpPr>
        <p:spPr>
          <a:xfrm>
            <a:off x="1152525" y="3948112"/>
            <a:ext cx="1809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2563EB"/>
                </a:solidFill>
                <a:latin typeface="Roboto"/>
                <a:ea typeface="Roboto"/>
                <a:cs typeface="Roboto"/>
                <a:sym typeface="Roboto"/>
              </a:rPr>
              <a:t>→</a:t>
            </a:r>
            <a:endParaRPr/>
          </a:p>
        </p:txBody>
      </p:sp>
      <p:sp>
        <p:nvSpPr>
          <p:cNvPr id="365" name="Google Shape;365;p21"/>
          <p:cNvSpPr txBox="1"/>
          <p:nvPr/>
        </p:nvSpPr>
        <p:spPr>
          <a:xfrm>
            <a:off x="1152525" y="4389983"/>
            <a:ext cx="1809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2563EB"/>
                </a:solidFill>
                <a:latin typeface="Roboto"/>
                <a:ea typeface="Roboto"/>
                <a:cs typeface="Roboto"/>
                <a:sym typeface="Roboto"/>
              </a:rPr>
              <a:t>→</a:t>
            </a:r>
            <a:endParaRPr/>
          </a:p>
        </p:txBody>
      </p:sp>
      <p:sp>
        <p:nvSpPr>
          <p:cNvPr id="366" name="Google Shape;366;p21"/>
          <p:cNvSpPr txBox="1"/>
          <p:nvPr/>
        </p:nvSpPr>
        <p:spPr>
          <a:xfrm>
            <a:off x="1152525" y="4831853"/>
            <a:ext cx="1809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2563EB"/>
                </a:solidFill>
                <a:latin typeface="Roboto"/>
                <a:ea typeface="Roboto"/>
                <a:cs typeface="Roboto"/>
                <a:sym typeface="Roboto"/>
              </a:rPr>
              <a:t>→</a:t>
            </a:r>
            <a:endParaRPr/>
          </a:p>
        </p:txBody>
      </p:sp>
      <p:sp>
        <p:nvSpPr>
          <p:cNvPr id="367" name="Google Shape;367;p21"/>
          <p:cNvSpPr txBox="1"/>
          <p:nvPr/>
        </p:nvSpPr>
        <p:spPr>
          <a:xfrm>
            <a:off x="6677025" y="3506241"/>
            <a:ext cx="1809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2563EB"/>
                </a:solidFill>
                <a:latin typeface="Roboto"/>
                <a:ea typeface="Roboto"/>
                <a:cs typeface="Roboto"/>
                <a:sym typeface="Roboto"/>
              </a:rPr>
              <a:t>→</a:t>
            </a:r>
            <a:endParaRPr/>
          </a:p>
        </p:txBody>
      </p:sp>
      <p:sp>
        <p:nvSpPr>
          <p:cNvPr id="368" name="Google Shape;368;p21"/>
          <p:cNvSpPr txBox="1"/>
          <p:nvPr/>
        </p:nvSpPr>
        <p:spPr>
          <a:xfrm>
            <a:off x="6677025" y="3948112"/>
            <a:ext cx="1809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2563EB"/>
                </a:solidFill>
                <a:latin typeface="Roboto"/>
                <a:ea typeface="Roboto"/>
                <a:cs typeface="Roboto"/>
                <a:sym typeface="Roboto"/>
              </a:rPr>
              <a:t>→</a:t>
            </a:r>
            <a:endParaRPr/>
          </a:p>
        </p:txBody>
      </p:sp>
      <p:sp>
        <p:nvSpPr>
          <p:cNvPr id="369" name="Google Shape;369;p21"/>
          <p:cNvSpPr txBox="1"/>
          <p:nvPr/>
        </p:nvSpPr>
        <p:spPr>
          <a:xfrm>
            <a:off x="6677025" y="4389983"/>
            <a:ext cx="1809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2563EB"/>
                </a:solidFill>
                <a:latin typeface="Roboto"/>
                <a:ea typeface="Roboto"/>
                <a:cs typeface="Roboto"/>
                <a:sym typeface="Roboto"/>
              </a:rPr>
              <a:t>→</a:t>
            </a:r>
            <a:endParaRPr/>
          </a:p>
        </p:txBody>
      </p:sp>
      <p:sp>
        <p:nvSpPr>
          <p:cNvPr id="370" name="Google Shape;370;p21"/>
          <p:cNvSpPr txBox="1"/>
          <p:nvPr/>
        </p:nvSpPr>
        <p:spPr>
          <a:xfrm>
            <a:off x="6677025" y="4831853"/>
            <a:ext cx="1809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2563EB"/>
                </a:solidFill>
                <a:latin typeface="Roboto"/>
                <a:ea typeface="Roboto"/>
                <a:cs typeface="Roboto"/>
                <a:sym typeface="Roboto"/>
              </a:rPr>
              <a:t>→</a:t>
            </a:r>
            <a:endParaRPr/>
          </a:p>
        </p:txBody>
      </p:sp>
      <p:sp>
        <p:nvSpPr>
          <p:cNvPr id="371" name="Google Shape;371;p21"/>
          <p:cNvSpPr txBox="1"/>
          <p:nvPr/>
        </p:nvSpPr>
        <p:spPr>
          <a:xfrm>
            <a:off x="6677025" y="5273724"/>
            <a:ext cx="1809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2563EB"/>
                </a:solidFill>
                <a:latin typeface="Roboto"/>
                <a:ea typeface="Roboto"/>
                <a:cs typeface="Roboto"/>
                <a:sym typeface="Roboto"/>
              </a:rPr>
              <a:t>→</a:t>
            </a:r>
            <a:endParaRPr/>
          </a:p>
        </p:txBody>
      </p:sp>
      <p:sp>
        <p:nvSpPr>
          <p:cNvPr id="372" name="Google Shape;372;p21"/>
          <p:cNvSpPr txBox="1"/>
          <p:nvPr/>
        </p:nvSpPr>
        <p:spPr>
          <a:xfrm>
            <a:off x="762000" y="571500"/>
            <a:ext cx="112014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Monitoring &amp; Observability</a:t>
            </a:r>
            <a:endParaRPr/>
          </a:p>
        </p:txBody>
      </p:sp>
      <p:sp>
        <p:nvSpPr>
          <p:cNvPr id="373" name="Google Shape;373;p21"/>
          <p:cNvSpPr/>
          <p:nvPr/>
        </p:nvSpPr>
        <p:spPr>
          <a:xfrm>
            <a:off x="762000" y="1200150"/>
            <a:ext cx="10668000" cy="28575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78" name="Google Shape;378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79" name="Google Shape;379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3143250"/>
            <a:ext cx="2346870" cy="2847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80" name="Google Shape;380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535709" y="3143250"/>
            <a:ext cx="2346870" cy="2390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81" name="Google Shape;381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09419" y="3143250"/>
            <a:ext cx="2346870" cy="2390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82" name="Google Shape;382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083129" y="3143250"/>
            <a:ext cx="2346870" cy="2390775"/>
          </a:xfrm>
          <a:prstGeom prst="rect">
            <a:avLst/>
          </a:prstGeom>
          <a:noFill/>
          <a:ln>
            <a:noFill/>
          </a:ln>
        </p:spPr>
      </p:pic>
      <p:sp>
        <p:nvSpPr>
          <p:cNvPr id="383" name="Google Shape;383;p22"/>
          <p:cNvSpPr/>
          <p:nvPr/>
        </p:nvSpPr>
        <p:spPr>
          <a:xfrm>
            <a:off x="1295400" y="2714625"/>
            <a:ext cx="9601200" cy="381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384" name="Google Shape;384;p2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697235" y="2476500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85" name="Google Shape;385;p2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470945" y="2476500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86" name="Google Shape;386;p2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244655" y="2476500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87" name="Google Shape;387;p22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0018365" y="2476500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88" name="Google Shape;388;p22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849635" y="2619375"/>
            <a:ext cx="17145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389" name="Google Shape;389;p22"/>
          <p:cNvSpPr txBox="1"/>
          <p:nvPr/>
        </p:nvSpPr>
        <p:spPr>
          <a:xfrm>
            <a:off x="963360" y="3390900"/>
            <a:ext cx="1944149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1. Detection</a:t>
            </a:r>
            <a:endParaRPr/>
          </a:p>
        </p:txBody>
      </p:sp>
      <p:sp>
        <p:nvSpPr>
          <p:cNvPr id="390" name="Google Shape;390;p22"/>
          <p:cNvSpPr txBox="1"/>
          <p:nvPr/>
        </p:nvSpPr>
        <p:spPr>
          <a:xfrm>
            <a:off x="1009650" y="3762375"/>
            <a:ext cx="185157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Incident Detected:</a:t>
            </a:r>
            <a:r>
              <a:rPr b="0" i="0" lang="en-US" sz="1125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 The monitoring engine identifies an anomaly or threshold breach.</a:t>
            </a:r>
            <a:endParaRPr/>
          </a:p>
        </p:txBody>
      </p:sp>
      <p:sp>
        <p:nvSpPr>
          <p:cNvPr id="391" name="Google Shape;391;p22"/>
          <p:cNvSpPr txBox="1"/>
          <p:nvPr/>
        </p:nvSpPr>
        <p:spPr>
          <a:xfrm>
            <a:off x="1009650" y="4752975"/>
            <a:ext cx="185157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Data Collected:</a:t>
            </a:r>
            <a:r>
              <a:rPr b="0" i="0" lang="en-US" sz="1125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 High-resolution telemetry and context are captured instantly.</a:t>
            </a:r>
            <a:endParaRPr/>
          </a:p>
        </p:txBody>
      </p:sp>
      <p:pic>
        <p:nvPicPr>
          <p:cNvPr descr="image.png" id="392" name="Google Shape;392;p22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4613820" y="2619375"/>
            <a:ext cx="19050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393" name="Google Shape;393;p22"/>
          <p:cNvSpPr txBox="1"/>
          <p:nvPr/>
        </p:nvSpPr>
        <p:spPr>
          <a:xfrm>
            <a:off x="3737070" y="3390900"/>
            <a:ext cx="1944149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2. Analysis</a:t>
            </a:r>
            <a:endParaRPr/>
          </a:p>
        </p:txBody>
      </p:sp>
      <p:sp>
        <p:nvSpPr>
          <p:cNvPr id="394" name="Google Shape;394;p22"/>
          <p:cNvSpPr txBox="1"/>
          <p:nvPr/>
        </p:nvSpPr>
        <p:spPr>
          <a:xfrm>
            <a:off x="3783359" y="3762375"/>
            <a:ext cx="185157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AI Analysis:</a:t>
            </a:r>
            <a:r>
              <a:rPr b="0" i="0" lang="en-US" sz="1125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 Context is passed to the LLM via the MCP server.</a:t>
            </a:r>
            <a:endParaRPr/>
          </a:p>
        </p:txBody>
      </p:sp>
      <p:sp>
        <p:nvSpPr>
          <p:cNvPr id="395" name="Google Shape;395;p22"/>
          <p:cNvSpPr txBox="1"/>
          <p:nvPr/>
        </p:nvSpPr>
        <p:spPr>
          <a:xfrm>
            <a:off x="3783359" y="4524375"/>
            <a:ext cx="185157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Pattern Recognition:</a:t>
            </a:r>
            <a:r>
              <a:rPr b="0" i="0" lang="en-US" sz="1125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 Historical data and known SQL patterns are evaluated.</a:t>
            </a:r>
            <a:endParaRPr/>
          </a:p>
        </p:txBody>
      </p:sp>
      <p:pic>
        <p:nvPicPr>
          <p:cNvPr descr="image.png" id="396" name="Google Shape;396;p22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7387530" y="2619375"/>
            <a:ext cx="19050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397" name="Google Shape;397;p22"/>
          <p:cNvSpPr txBox="1"/>
          <p:nvPr/>
        </p:nvSpPr>
        <p:spPr>
          <a:xfrm>
            <a:off x="6510780" y="3390900"/>
            <a:ext cx="1944149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3. Diagnostics</a:t>
            </a:r>
            <a:endParaRPr/>
          </a:p>
        </p:txBody>
      </p:sp>
      <p:sp>
        <p:nvSpPr>
          <p:cNvPr id="398" name="Google Shape;398;p22"/>
          <p:cNvSpPr txBox="1"/>
          <p:nvPr/>
        </p:nvSpPr>
        <p:spPr>
          <a:xfrm>
            <a:off x="6557069" y="3762375"/>
            <a:ext cx="185157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Root Cause Analysis:</a:t>
            </a:r>
            <a:r>
              <a:rPr b="0" i="0" lang="en-US" sz="1125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 AI synthesizes findings into a human-readable RCA report.</a:t>
            </a:r>
            <a:endParaRPr/>
          </a:p>
        </p:txBody>
      </p:sp>
      <p:sp>
        <p:nvSpPr>
          <p:cNvPr id="399" name="Google Shape;399;p22"/>
          <p:cNvSpPr txBox="1"/>
          <p:nvPr/>
        </p:nvSpPr>
        <p:spPr>
          <a:xfrm>
            <a:off x="6557069" y="4524375"/>
            <a:ext cx="185157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Recommendations:</a:t>
            </a:r>
            <a:r>
              <a:rPr b="0" i="0" lang="en-US" sz="1125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 Specific T-SQL or config changes are generated.</a:t>
            </a:r>
            <a:endParaRPr/>
          </a:p>
        </p:txBody>
      </p:sp>
      <p:pic>
        <p:nvPicPr>
          <p:cNvPr descr="image.png" id="400" name="Google Shape;400;p22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10146952" y="2619375"/>
            <a:ext cx="219075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p22"/>
          <p:cNvSpPr txBox="1"/>
          <p:nvPr/>
        </p:nvSpPr>
        <p:spPr>
          <a:xfrm>
            <a:off x="9284490" y="3390900"/>
            <a:ext cx="1944149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4. Action</a:t>
            </a:r>
            <a:endParaRPr/>
          </a:p>
        </p:txBody>
      </p:sp>
      <p:sp>
        <p:nvSpPr>
          <p:cNvPr id="402" name="Google Shape;402;p22"/>
          <p:cNvSpPr txBox="1"/>
          <p:nvPr/>
        </p:nvSpPr>
        <p:spPr>
          <a:xfrm>
            <a:off x="9330779" y="3762375"/>
            <a:ext cx="185157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Risk Classification:</a:t>
            </a:r>
            <a:r>
              <a:rPr b="0" i="0" lang="en-US" sz="1125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 Proposed changes are scored for operational risk.</a:t>
            </a:r>
            <a:endParaRPr/>
          </a:p>
        </p:txBody>
      </p:sp>
      <p:sp>
        <p:nvSpPr>
          <p:cNvPr id="403" name="Google Shape;403;p22"/>
          <p:cNvSpPr txBox="1"/>
          <p:nvPr/>
        </p:nvSpPr>
        <p:spPr>
          <a:xfrm>
            <a:off x="9330779" y="4524375"/>
            <a:ext cx="185157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Reporting:</a:t>
            </a:r>
            <a:r>
              <a:rPr b="0" i="0" lang="en-US" sz="1125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 Final operational report is sent for DBA review and approval.</a:t>
            </a:r>
            <a:endParaRPr/>
          </a:p>
        </p:txBody>
      </p:sp>
      <p:sp>
        <p:nvSpPr>
          <p:cNvPr id="404" name="Google Shape;404;p22"/>
          <p:cNvSpPr txBox="1"/>
          <p:nvPr/>
        </p:nvSpPr>
        <p:spPr>
          <a:xfrm>
            <a:off x="762000" y="571500"/>
            <a:ext cx="112014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AI DB Agent Workflow</a:t>
            </a:r>
            <a:endParaRPr/>
          </a:p>
        </p:txBody>
      </p:sp>
      <p:sp>
        <p:nvSpPr>
          <p:cNvPr id="405" name="Google Shape;405;p22"/>
          <p:cNvSpPr/>
          <p:nvPr/>
        </p:nvSpPr>
        <p:spPr>
          <a:xfrm>
            <a:off x="762000" y="1200150"/>
            <a:ext cx="10668000" cy="28575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10" name="Google Shape;410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11" name="Google Shape;411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1941314"/>
            <a:ext cx="3365450" cy="401359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12" name="Google Shape;412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413200" y="1941314"/>
            <a:ext cx="3365450" cy="401359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13" name="Google Shape;413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64400" y="1941314"/>
            <a:ext cx="3365450" cy="401359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14" name="Google Shape;414;p2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063650" y="2331839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415" name="Google Shape;415;p23"/>
          <p:cNvSpPr txBox="1"/>
          <p:nvPr/>
        </p:nvSpPr>
        <p:spPr>
          <a:xfrm>
            <a:off x="1139487" y="3331964"/>
            <a:ext cx="2610326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EF4444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Root Cause Analysis</a:t>
            </a:r>
            <a:endParaRPr/>
          </a:p>
        </p:txBody>
      </p:sp>
      <p:pic>
        <p:nvPicPr>
          <p:cNvPr descr="image.png" id="416" name="Google Shape;416;p2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14851" y="2331839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417" name="Google Shape;417;p23"/>
          <p:cNvSpPr txBox="1"/>
          <p:nvPr/>
        </p:nvSpPr>
        <p:spPr>
          <a:xfrm>
            <a:off x="5245744" y="3331964"/>
            <a:ext cx="1700212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10B98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Query Tuning</a:t>
            </a:r>
            <a:endParaRPr/>
          </a:p>
        </p:txBody>
      </p:sp>
      <p:pic>
        <p:nvPicPr>
          <p:cNvPr descr="image.png" id="418" name="Google Shape;418;p2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366051" y="2331839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419" name="Google Shape;419;p23"/>
          <p:cNvSpPr txBox="1"/>
          <p:nvPr/>
        </p:nvSpPr>
        <p:spPr>
          <a:xfrm>
            <a:off x="8290303" y="3331964"/>
            <a:ext cx="2913645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F59E0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Operational Intelligence</a:t>
            </a:r>
            <a:endParaRPr/>
          </a:p>
        </p:txBody>
      </p:sp>
      <p:pic>
        <p:nvPicPr>
          <p:cNvPr descr="image.png" id="420" name="Google Shape;420;p23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2330350" y="2560439"/>
            <a:ext cx="2286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421" name="Google Shape;421;p23"/>
          <p:cNvSpPr txBox="1"/>
          <p:nvPr/>
        </p:nvSpPr>
        <p:spPr>
          <a:xfrm>
            <a:off x="1247775" y="3912989"/>
            <a:ext cx="2584400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Precise incident diagnosis</a:t>
            </a:r>
            <a:endParaRPr/>
          </a:p>
        </p:txBody>
      </p:sp>
      <p:sp>
        <p:nvSpPr>
          <p:cNvPr id="422" name="Google Shape;422;p23"/>
          <p:cNvSpPr txBox="1"/>
          <p:nvPr/>
        </p:nvSpPr>
        <p:spPr>
          <a:xfrm>
            <a:off x="1247775" y="4252019"/>
            <a:ext cx="2584400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Correlated symptom analysis</a:t>
            </a:r>
            <a:endParaRPr/>
          </a:p>
        </p:txBody>
      </p:sp>
      <p:sp>
        <p:nvSpPr>
          <p:cNvPr id="423" name="Google Shape;423;p23"/>
          <p:cNvSpPr txBox="1"/>
          <p:nvPr/>
        </p:nvSpPr>
        <p:spPr>
          <a:xfrm>
            <a:off x="1247775" y="4591050"/>
            <a:ext cx="2584400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Historical pattern identification</a:t>
            </a:r>
            <a:endParaRPr/>
          </a:p>
        </p:txBody>
      </p:sp>
      <p:sp>
        <p:nvSpPr>
          <p:cNvPr id="424" name="Google Shape;424;p23"/>
          <p:cNvSpPr txBox="1"/>
          <p:nvPr/>
        </p:nvSpPr>
        <p:spPr>
          <a:xfrm>
            <a:off x="1247775" y="4930080"/>
            <a:ext cx="2584400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Log and evidence summarization</a:t>
            </a:r>
            <a:endParaRPr/>
          </a:p>
        </p:txBody>
      </p:sp>
      <p:pic>
        <p:nvPicPr>
          <p:cNvPr descr="image.png" id="425" name="Google Shape;425;p23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5905351" y="2560439"/>
            <a:ext cx="3810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426" name="Google Shape;426;p23"/>
          <p:cNvSpPr txBox="1"/>
          <p:nvPr/>
        </p:nvSpPr>
        <p:spPr>
          <a:xfrm>
            <a:off x="4898975" y="3912989"/>
            <a:ext cx="2584400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Missing index recommendations</a:t>
            </a:r>
            <a:endParaRPr/>
          </a:p>
        </p:txBody>
      </p:sp>
      <p:sp>
        <p:nvSpPr>
          <p:cNvPr id="427" name="Google Shape;427;p23"/>
          <p:cNvSpPr txBox="1"/>
          <p:nvPr/>
        </p:nvSpPr>
        <p:spPr>
          <a:xfrm>
            <a:off x="4898975" y="4252019"/>
            <a:ext cx="2584400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Execution plan optimization</a:t>
            </a:r>
            <a:endParaRPr/>
          </a:p>
        </p:txBody>
      </p:sp>
      <p:sp>
        <p:nvSpPr>
          <p:cNvPr id="428" name="Google Shape;428;p23"/>
          <p:cNvSpPr txBox="1"/>
          <p:nvPr/>
        </p:nvSpPr>
        <p:spPr>
          <a:xfrm>
            <a:off x="4898975" y="4591050"/>
            <a:ext cx="2584400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Statistics update suggestions</a:t>
            </a:r>
            <a:endParaRPr/>
          </a:p>
        </p:txBody>
      </p:sp>
      <p:sp>
        <p:nvSpPr>
          <p:cNvPr id="429" name="Google Shape;429;p23"/>
          <p:cNvSpPr txBox="1"/>
          <p:nvPr/>
        </p:nvSpPr>
        <p:spPr>
          <a:xfrm>
            <a:off x="4898975" y="4930080"/>
            <a:ext cx="2584400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Bottleneck performance analysis</a:t>
            </a:r>
            <a:endParaRPr/>
          </a:p>
        </p:txBody>
      </p:sp>
      <p:pic>
        <p:nvPicPr>
          <p:cNvPr descr="image.png" id="430" name="Google Shape;430;p23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9632751" y="2560439"/>
            <a:ext cx="2286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431" name="Google Shape;431;p23"/>
          <p:cNvSpPr txBox="1"/>
          <p:nvPr/>
        </p:nvSpPr>
        <p:spPr>
          <a:xfrm>
            <a:off x="8550175" y="4208264"/>
            <a:ext cx="2584400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Automated risk classification</a:t>
            </a:r>
            <a:endParaRPr/>
          </a:p>
        </p:txBody>
      </p:sp>
      <p:sp>
        <p:nvSpPr>
          <p:cNvPr id="432" name="Google Shape;432;p23"/>
          <p:cNvSpPr txBox="1"/>
          <p:nvPr/>
        </p:nvSpPr>
        <p:spPr>
          <a:xfrm>
            <a:off x="8550175" y="4547294"/>
            <a:ext cx="2584400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Dynamic incident prioritization</a:t>
            </a:r>
            <a:endParaRPr/>
          </a:p>
        </p:txBody>
      </p:sp>
      <p:sp>
        <p:nvSpPr>
          <p:cNvPr id="433" name="Google Shape;433;p23"/>
          <p:cNvSpPr txBox="1"/>
          <p:nvPr/>
        </p:nvSpPr>
        <p:spPr>
          <a:xfrm>
            <a:off x="8550175" y="4886325"/>
            <a:ext cx="2584400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Long-term trend analysis</a:t>
            </a:r>
            <a:endParaRPr/>
          </a:p>
        </p:txBody>
      </p:sp>
      <p:sp>
        <p:nvSpPr>
          <p:cNvPr id="434" name="Google Shape;434;p23"/>
          <p:cNvSpPr txBox="1"/>
          <p:nvPr/>
        </p:nvSpPr>
        <p:spPr>
          <a:xfrm>
            <a:off x="8550175" y="5225355"/>
            <a:ext cx="2584400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Capacity planning indicators</a:t>
            </a:r>
            <a:endParaRPr/>
          </a:p>
        </p:txBody>
      </p:sp>
      <p:sp>
        <p:nvSpPr>
          <p:cNvPr id="435" name="Google Shape;435;p23"/>
          <p:cNvSpPr txBox="1"/>
          <p:nvPr/>
        </p:nvSpPr>
        <p:spPr>
          <a:xfrm>
            <a:off x="1057275" y="3893939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563EB"/>
                </a:solidFill>
                <a:latin typeface="Roboto"/>
                <a:ea typeface="Roboto"/>
                <a:cs typeface="Roboto"/>
                <a:sym typeface="Roboto"/>
              </a:rPr>
              <a:t>•</a:t>
            </a:r>
            <a:endParaRPr/>
          </a:p>
        </p:txBody>
      </p:sp>
      <p:sp>
        <p:nvSpPr>
          <p:cNvPr id="436" name="Google Shape;436;p23"/>
          <p:cNvSpPr txBox="1"/>
          <p:nvPr/>
        </p:nvSpPr>
        <p:spPr>
          <a:xfrm>
            <a:off x="1057275" y="4232969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563EB"/>
                </a:solidFill>
                <a:latin typeface="Roboto"/>
                <a:ea typeface="Roboto"/>
                <a:cs typeface="Roboto"/>
                <a:sym typeface="Roboto"/>
              </a:rPr>
              <a:t>•</a:t>
            </a:r>
            <a:endParaRPr/>
          </a:p>
        </p:txBody>
      </p:sp>
      <p:sp>
        <p:nvSpPr>
          <p:cNvPr id="437" name="Google Shape;437;p23"/>
          <p:cNvSpPr txBox="1"/>
          <p:nvPr/>
        </p:nvSpPr>
        <p:spPr>
          <a:xfrm>
            <a:off x="1057275" y="4572000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563EB"/>
                </a:solidFill>
                <a:latin typeface="Roboto"/>
                <a:ea typeface="Roboto"/>
                <a:cs typeface="Roboto"/>
                <a:sym typeface="Roboto"/>
              </a:rPr>
              <a:t>•</a:t>
            </a:r>
            <a:endParaRPr/>
          </a:p>
        </p:txBody>
      </p:sp>
      <p:sp>
        <p:nvSpPr>
          <p:cNvPr id="438" name="Google Shape;438;p23"/>
          <p:cNvSpPr txBox="1"/>
          <p:nvPr/>
        </p:nvSpPr>
        <p:spPr>
          <a:xfrm>
            <a:off x="1057275" y="4911030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563EB"/>
                </a:solidFill>
                <a:latin typeface="Roboto"/>
                <a:ea typeface="Roboto"/>
                <a:cs typeface="Roboto"/>
                <a:sym typeface="Roboto"/>
              </a:rPr>
              <a:t>•</a:t>
            </a:r>
            <a:endParaRPr/>
          </a:p>
        </p:txBody>
      </p:sp>
      <p:sp>
        <p:nvSpPr>
          <p:cNvPr id="439" name="Google Shape;439;p23"/>
          <p:cNvSpPr txBox="1"/>
          <p:nvPr/>
        </p:nvSpPr>
        <p:spPr>
          <a:xfrm>
            <a:off x="4708475" y="3893939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563EB"/>
                </a:solidFill>
                <a:latin typeface="Roboto"/>
                <a:ea typeface="Roboto"/>
                <a:cs typeface="Roboto"/>
                <a:sym typeface="Roboto"/>
              </a:rPr>
              <a:t>•</a:t>
            </a:r>
            <a:endParaRPr/>
          </a:p>
        </p:txBody>
      </p:sp>
      <p:sp>
        <p:nvSpPr>
          <p:cNvPr id="440" name="Google Shape;440;p23"/>
          <p:cNvSpPr txBox="1"/>
          <p:nvPr/>
        </p:nvSpPr>
        <p:spPr>
          <a:xfrm>
            <a:off x="4708475" y="4232969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563EB"/>
                </a:solidFill>
                <a:latin typeface="Roboto"/>
                <a:ea typeface="Roboto"/>
                <a:cs typeface="Roboto"/>
                <a:sym typeface="Roboto"/>
              </a:rPr>
              <a:t>•</a:t>
            </a:r>
            <a:endParaRPr/>
          </a:p>
        </p:txBody>
      </p:sp>
      <p:sp>
        <p:nvSpPr>
          <p:cNvPr id="441" name="Google Shape;441;p23"/>
          <p:cNvSpPr txBox="1"/>
          <p:nvPr/>
        </p:nvSpPr>
        <p:spPr>
          <a:xfrm>
            <a:off x="4708475" y="4572000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563EB"/>
                </a:solidFill>
                <a:latin typeface="Roboto"/>
                <a:ea typeface="Roboto"/>
                <a:cs typeface="Roboto"/>
                <a:sym typeface="Roboto"/>
              </a:rPr>
              <a:t>•</a:t>
            </a:r>
            <a:endParaRPr/>
          </a:p>
        </p:txBody>
      </p:sp>
      <p:sp>
        <p:nvSpPr>
          <p:cNvPr id="442" name="Google Shape;442;p23"/>
          <p:cNvSpPr txBox="1"/>
          <p:nvPr/>
        </p:nvSpPr>
        <p:spPr>
          <a:xfrm>
            <a:off x="4708475" y="4911030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563EB"/>
                </a:solidFill>
                <a:latin typeface="Roboto"/>
                <a:ea typeface="Roboto"/>
                <a:cs typeface="Roboto"/>
                <a:sym typeface="Roboto"/>
              </a:rPr>
              <a:t>•</a:t>
            </a:r>
            <a:endParaRPr/>
          </a:p>
        </p:txBody>
      </p:sp>
      <p:sp>
        <p:nvSpPr>
          <p:cNvPr id="443" name="Google Shape;443;p23"/>
          <p:cNvSpPr txBox="1"/>
          <p:nvPr/>
        </p:nvSpPr>
        <p:spPr>
          <a:xfrm>
            <a:off x="8359675" y="4189214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563EB"/>
                </a:solidFill>
                <a:latin typeface="Roboto"/>
                <a:ea typeface="Roboto"/>
                <a:cs typeface="Roboto"/>
                <a:sym typeface="Roboto"/>
              </a:rPr>
              <a:t>•</a:t>
            </a:r>
            <a:endParaRPr/>
          </a:p>
        </p:txBody>
      </p:sp>
      <p:sp>
        <p:nvSpPr>
          <p:cNvPr id="444" name="Google Shape;444;p23"/>
          <p:cNvSpPr txBox="1"/>
          <p:nvPr/>
        </p:nvSpPr>
        <p:spPr>
          <a:xfrm>
            <a:off x="8359675" y="4528244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563EB"/>
                </a:solidFill>
                <a:latin typeface="Roboto"/>
                <a:ea typeface="Roboto"/>
                <a:cs typeface="Roboto"/>
                <a:sym typeface="Roboto"/>
              </a:rPr>
              <a:t>•</a:t>
            </a:r>
            <a:endParaRPr/>
          </a:p>
        </p:txBody>
      </p:sp>
      <p:sp>
        <p:nvSpPr>
          <p:cNvPr id="445" name="Google Shape;445;p23"/>
          <p:cNvSpPr txBox="1"/>
          <p:nvPr/>
        </p:nvSpPr>
        <p:spPr>
          <a:xfrm>
            <a:off x="8359675" y="4867275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563EB"/>
                </a:solidFill>
                <a:latin typeface="Roboto"/>
                <a:ea typeface="Roboto"/>
                <a:cs typeface="Roboto"/>
                <a:sym typeface="Roboto"/>
              </a:rPr>
              <a:t>•</a:t>
            </a:r>
            <a:endParaRPr/>
          </a:p>
        </p:txBody>
      </p:sp>
      <p:sp>
        <p:nvSpPr>
          <p:cNvPr id="446" name="Google Shape;446;p23"/>
          <p:cNvSpPr txBox="1"/>
          <p:nvPr/>
        </p:nvSpPr>
        <p:spPr>
          <a:xfrm>
            <a:off x="8359675" y="5206305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563EB"/>
                </a:solidFill>
                <a:latin typeface="Roboto"/>
                <a:ea typeface="Roboto"/>
                <a:cs typeface="Roboto"/>
                <a:sym typeface="Roboto"/>
              </a:rPr>
              <a:t>•</a:t>
            </a:r>
            <a:endParaRPr/>
          </a:p>
        </p:txBody>
      </p:sp>
      <p:sp>
        <p:nvSpPr>
          <p:cNvPr id="447" name="Google Shape;447;p23"/>
          <p:cNvSpPr txBox="1"/>
          <p:nvPr/>
        </p:nvSpPr>
        <p:spPr>
          <a:xfrm>
            <a:off x="762000" y="571500"/>
            <a:ext cx="112014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AI-Powered RCA &amp; Recommendations</a:t>
            </a:r>
            <a:endParaRPr/>
          </a:p>
        </p:txBody>
      </p:sp>
      <p:sp>
        <p:nvSpPr>
          <p:cNvPr id="448" name="Google Shape;448;p23"/>
          <p:cNvSpPr/>
          <p:nvPr/>
        </p:nvSpPr>
        <p:spPr>
          <a:xfrm>
            <a:off x="762000" y="1200150"/>
            <a:ext cx="10668000" cy="28575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53" name="Google Shape;453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54" name="Google Shape;454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1609725"/>
            <a:ext cx="5143500" cy="47065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55" name="Google Shape;455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1609725"/>
            <a:ext cx="5143500" cy="4706540"/>
          </a:xfrm>
          <a:prstGeom prst="rect">
            <a:avLst/>
          </a:prstGeom>
          <a:noFill/>
          <a:ln>
            <a:noFill/>
          </a:ln>
        </p:spPr>
      </p:pic>
      <p:sp>
        <p:nvSpPr>
          <p:cNvPr id="456" name="Google Shape;456;p24"/>
          <p:cNvSpPr txBox="1"/>
          <p:nvPr/>
        </p:nvSpPr>
        <p:spPr>
          <a:xfrm>
            <a:off x="1152525" y="2000250"/>
            <a:ext cx="4580572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0957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2563E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Governance Controls</a:t>
            </a:r>
            <a:endParaRPr/>
          </a:p>
        </p:txBody>
      </p:sp>
      <p:sp>
        <p:nvSpPr>
          <p:cNvPr id="457" name="Google Shape;457;p24"/>
          <p:cNvSpPr/>
          <p:nvPr/>
        </p:nvSpPr>
        <p:spPr>
          <a:xfrm>
            <a:off x="1152525" y="2438400"/>
            <a:ext cx="4362450" cy="1905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24"/>
          <p:cNvSpPr txBox="1"/>
          <p:nvPr/>
        </p:nvSpPr>
        <p:spPr>
          <a:xfrm>
            <a:off x="1152525" y="2695575"/>
            <a:ext cx="4362450" cy="8684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Human-in-the-Loop Execution:</a:t>
            </a:r>
            <a:r>
              <a:rPr b="0" i="0" lang="en-US" sz="1425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 High-risk operations require explicit DBA approval before automated execution.</a:t>
            </a:r>
            <a:endParaRPr/>
          </a:p>
        </p:txBody>
      </p:sp>
      <p:sp>
        <p:nvSpPr>
          <p:cNvPr id="459" name="Google Shape;459;p24"/>
          <p:cNvSpPr txBox="1"/>
          <p:nvPr/>
        </p:nvSpPr>
        <p:spPr>
          <a:xfrm>
            <a:off x="1152525" y="3897362"/>
            <a:ext cx="4362450" cy="289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EF4444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Restricted Operations (Blocked):</a:t>
            </a:r>
            <a:endParaRPr/>
          </a:p>
        </p:txBody>
      </p:sp>
      <p:sp>
        <p:nvSpPr>
          <p:cNvPr id="460" name="Google Shape;460;p24"/>
          <p:cNvSpPr txBox="1"/>
          <p:nvPr/>
        </p:nvSpPr>
        <p:spPr>
          <a:xfrm>
            <a:off x="6677025" y="2000250"/>
            <a:ext cx="4580572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4290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2563E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Security Features</a:t>
            </a:r>
            <a:endParaRPr/>
          </a:p>
        </p:txBody>
      </p:sp>
      <p:sp>
        <p:nvSpPr>
          <p:cNvPr id="461" name="Google Shape;461;p24"/>
          <p:cNvSpPr/>
          <p:nvPr/>
        </p:nvSpPr>
        <p:spPr>
          <a:xfrm>
            <a:off x="6677025" y="2438400"/>
            <a:ext cx="4362450" cy="1905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462" name="Google Shape;462;p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52525" y="2028825"/>
            <a:ext cx="3143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63" name="Google Shape;463;p2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152525" y="4282082"/>
            <a:ext cx="4762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64" name="Google Shape;464;p2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724025" y="4282082"/>
            <a:ext cx="6000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65" name="Google Shape;465;p2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2419350" y="4282082"/>
            <a:ext cx="538162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66" name="Google Shape;466;p24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3052762" y="4282082"/>
            <a:ext cx="7239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67" name="Google Shape;467;p24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3871912" y="4282082"/>
            <a:ext cx="7239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68" name="Google Shape;468;p24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4691062" y="4282082"/>
            <a:ext cx="4762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69" name="Google Shape;469;p24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6677025" y="2028825"/>
            <a:ext cx="24765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470" name="Google Shape;470;p24"/>
          <p:cNvSpPr txBox="1"/>
          <p:nvPr/>
        </p:nvSpPr>
        <p:spPr>
          <a:xfrm>
            <a:off x="6943725" y="2886075"/>
            <a:ext cx="4095750" cy="5789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Audit Logging:</a:t>
            </a:r>
            <a:r>
              <a:rPr b="0" i="0" lang="en-US" sz="1425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 Immutable tracking of every recommendation, approval, and execution.</a:t>
            </a:r>
            <a:endParaRPr/>
          </a:p>
        </p:txBody>
      </p:sp>
      <p:sp>
        <p:nvSpPr>
          <p:cNvPr id="471" name="Google Shape;471;p24"/>
          <p:cNvSpPr txBox="1"/>
          <p:nvPr/>
        </p:nvSpPr>
        <p:spPr>
          <a:xfrm>
            <a:off x="6943725" y="3655516"/>
            <a:ext cx="4095750" cy="5789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Approval Workflows:</a:t>
            </a:r>
            <a:r>
              <a:rPr b="0" i="0" lang="en-US" sz="1425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 Multi-tier authorization integrated with ITSM tools.</a:t>
            </a:r>
            <a:endParaRPr/>
          </a:p>
        </p:txBody>
      </p:sp>
      <p:sp>
        <p:nvSpPr>
          <p:cNvPr id="472" name="Google Shape;472;p24"/>
          <p:cNvSpPr txBox="1"/>
          <p:nvPr/>
        </p:nvSpPr>
        <p:spPr>
          <a:xfrm>
            <a:off x="6943725" y="4424957"/>
            <a:ext cx="4095750" cy="5789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Role-Based Validation:</a:t>
            </a:r>
            <a:r>
              <a:rPr b="0" i="0" lang="en-US" sz="1425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 Ensuring only authorized personnel can approve specific database levels.</a:t>
            </a:r>
            <a:endParaRPr/>
          </a:p>
        </p:txBody>
      </p:sp>
      <p:sp>
        <p:nvSpPr>
          <p:cNvPr id="473" name="Google Shape;473;p24"/>
          <p:cNvSpPr txBox="1"/>
          <p:nvPr/>
        </p:nvSpPr>
        <p:spPr>
          <a:xfrm>
            <a:off x="6943725" y="5194399"/>
            <a:ext cx="4095750" cy="5789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Controlled Execution:</a:t>
            </a:r>
            <a:r>
              <a:rPr b="0" i="0" lang="en-US" sz="1425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 Sandboxed remediation script application.</a:t>
            </a:r>
            <a:endParaRPr/>
          </a:p>
        </p:txBody>
      </p:sp>
      <p:sp>
        <p:nvSpPr>
          <p:cNvPr id="474" name="Google Shape;474;p24"/>
          <p:cNvSpPr txBox="1"/>
          <p:nvPr/>
        </p:nvSpPr>
        <p:spPr>
          <a:xfrm>
            <a:off x="6677025" y="2886075"/>
            <a:ext cx="1809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2563EB"/>
                </a:solidFill>
                <a:latin typeface="Roboto"/>
                <a:ea typeface="Roboto"/>
                <a:cs typeface="Roboto"/>
                <a:sym typeface="Roboto"/>
              </a:rPr>
              <a:t>→</a:t>
            </a:r>
            <a:endParaRPr/>
          </a:p>
        </p:txBody>
      </p:sp>
      <p:sp>
        <p:nvSpPr>
          <p:cNvPr id="475" name="Google Shape;475;p24"/>
          <p:cNvSpPr txBox="1"/>
          <p:nvPr/>
        </p:nvSpPr>
        <p:spPr>
          <a:xfrm>
            <a:off x="6677025" y="3655516"/>
            <a:ext cx="1809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2563EB"/>
                </a:solidFill>
                <a:latin typeface="Roboto"/>
                <a:ea typeface="Roboto"/>
                <a:cs typeface="Roboto"/>
                <a:sym typeface="Roboto"/>
              </a:rPr>
              <a:t>→</a:t>
            </a:r>
            <a:endParaRPr/>
          </a:p>
        </p:txBody>
      </p:sp>
      <p:sp>
        <p:nvSpPr>
          <p:cNvPr id="476" name="Google Shape;476;p24"/>
          <p:cNvSpPr txBox="1"/>
          <p:nvPr/>
        </p:nvSpPr>
        <p:spPr>
          <a:xfrm>
            <a:off x="6677025" y="4424957"/>
            <a:ext cx="1809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2563EB"/>
                </a:solidFill>
                <a:latin typeface="Roboto"/>
                <a:ea typeface="Roboto"/>
                <a:cs typeface="Roboto"/>
                <a:sym typeface="Roboto"/>
              </a:rPr>
              <a:t>→</a:t>
            </a:r>
            <a:endParaRPr/>
          </a:p>
        </p:txBody>
      </p:sp>
      <p:sp>
        <p:nvSpPr>
          <p:cNvPr id="477" name="Google Shape;477;p24"/>
          <p:cNvSpPr txBox="1"/>
          <p:nvPr/>
        </p:nvSpPr>
        <p:spPr>
          <a:xfrm>
            <a:off x="6677025" y="5194399"/>
            <a:ext cx="1809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2563EB"/>
                </a:solidFill>
                <a:latin typeface="Roboto"/>
                <a:ea typeface="Roboto"/>
                <a:cs typeface="Roboto"/>
                <a:sym typeface="Roboto"/>
              </a:rPr>
              <a:t>→</a:t>
            </a:r>
            <a:endParaRPr/>
          </a:p>
        </p:txBody>
      </p:sp>
      <p:sp>
        <p:nvSpPr>
          <p:cNvPr id="478" name="Google Shape;478;p24"/>
          <p:cNvSpPr txBox="1"/>
          <p:nvPr/>
        </p:nvSpPr>
        <p:spPr>
          <a:xfrm>
            <a:off x="762000" y="571500"/>
            <a:ext cx="112014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Governance &amp; Security</a:t>
            </a:r>
            <a:endParaRPr/>
          </a:p>
        </p:txBody>
      </p:sp>
      <p:sp>
        <p:nvSpPr>
          <p:cNvPr id="479" name="Google Shape;479;p24"/>
          <p:cNvSpPr/>
          <p:nvPr/>
        </p:nvSpPr>
        <p:spPr>
          <a:xfrm>
            <a:off x="762000" y="1200150"/>
            <a:ext cx="10668000" cy="28575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84" name="Google Shape;484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85" name="Google Shape;485;p25"/>
          <p:cNvSpPr/>
          <p:nvPr/>
        </p:nvSpPr>
        <p:spPr>
          <a:xfrm>
            <a:off x="1809750" y="1609725"/>
            <a:ext cx="8572500" cy="978991"/>
          </a:xfrm>
          <a:prstGeom prst="roundRect">
            <a:avLst>
              <a:gd fmla="val 11675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p25"/>
          <p:cNvSpPr txBox="1"/>
          <p:nvPr/>
        </p:nvSpPr>
        <p:spPr>
          <a:xfrm>
            <a:off x="2609850" y="1800225"/>
            <a:ext cx="7581900" cy="59799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rPr>
              <a:t>Automated Service Recovery:</a:t>
            </a:r>
            <a:r>
              <a:rPr b="0" i="0" lang="en-US" sz="1425" u="none" cap="none" strike="noStrike">
                <a:solidFill>
                  <a:srgbClr val="1E293B"/>
                </a:solidFill>
                <a:latin typeface="Roboto Medium"/>
                <a:ea typeface="Roboto Medium"/>
                <a:cs typeface="Roboto Medium"/>
                <a:sym typeface="Roboto Medium"/>
              </a:rPr>
              <a:t> Safely attempt to restart failed SQL Server Agent jobs based on predefined rules.</a:t>
            </a:r>
            <a:endParaRPr/>
          </a:p>
        </p:txBody>
      </p:sp>
      <p:sp>
        <p:nvSpPr>
          <p:cNvPr id="487" name="Google Shape;487;p25"/>
          <p:cNvSpPr/>
          <p:nvPr/>
        </p:nvSpPr>
        <p:spPr>
          <a:xfrm>
            <a:off x="1809750" y="2826841"/>
            <a:ext cx="8572500" cy="978991"/>
          </a:xfrm>
          <a:prstGeom prst="roundRect">
            <a:avLst>
              <a:gd fmla="val 11675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25"/>
          <p:cNvSpPr txBox="1"/>
          <p:nvPr/>
        </p:nvSpPr>
        <p:spPr>
          <a:xfrm>
            <a:off x="2609850" y="3017341"/>
            <a:ext cx="7581900" cy="59799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rPr>
              <a:t>Health Reporting:</a:t>
            </a:r>
            <a:r>
              <a:rPr b="0" i="0" lang="en-US" sz="1425" u="none" cap="none" strike="noStrike">
                <a:solidFill>
                  <a:srgbClr val="1E293B"/>
                </a:solidFill>
                <a:latin typeface="Roboto Medium"/>
                <a:ea typeface="Roboto Medium"/>
                <a:cs typeface="Roboto Medium"/>
                <a:sym typeface="Roboto Medium"/>
              </a:rPr>
              <a:t> Automatically generate and distribute comprehensive DBA health reports to stakeholders.</a:t>
            </a:r>
            <a:endParaRPr/>
          </a:p>
        </p:txBody>
      </p:sp>
      <p:sp>
        <p:nvSpPr>
          <p:cNvPr id="489" name="Google Shape;489;p25"/>
          <p:cNvSpPr/>
          <p:nvPr/>
        </p:nvSpPr>
        <p:spPr>
          <a:xfrm>
            <a:off x="1809750" y="4043957"/>
            <a:ext cx="8572500" cy="689520"/>
          </a:xfrm>
          <a:prstGeom prst="roundRect">
            <a:avLst>
              <a:gd fmla="val 16576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p25"/>
          <p:cNvSpPr txBox="1"/>
          <p:nvPr/>
        </p:nvSpPr>
        <p:spPr>
          <a:xfrm>
            <a:off x="2609850" y="4234457"/>
            <a:ext cx="7581900" cy="308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rPr>
              <a:t>Smart Alerting:</a:t>
            </a:r>
            <a:r>
              <a:rPr b="0" i="0" lang="en-US" sz="1425" u="none" cap="none" strike="noStrike">
                <a:solidFill>
                  <a:srgbClr val="1E293B"/>
                </a:solidFill>
                <a:latin typeface="Roboto Medium"/>
                <a:ea typeface="Roboto Medium"/>
                <a:cs typeface="Roboto Medium"/>
                <a:sym typeface="Roboto Medium"/>
              </a:rPr>
              <a:t> Trigger automated, context-rich alert notifications via Teams or Email.</a:t>
            </a:r>
            <a:endParaRPr/>
          </a:p>
        </p:txBody>
      </p:sp>
      <p:sp>
        <p:nvSpPr>
          <p:cNvPr id="491" name="Google Shape;491;p25"/>
          <p:cNvSpPr/>
          <p:nvPr/>
        </p:nvSpPr>
        <p:spPr>
          <a:xfrm>
            <a:off x="1809750" y="4971603"/>
            <a:ext cx="8572500" cy="689520"/>
          </a:xfrm>
          <a:prstGeom prst="roundRect">
            <a:avLst>
              <a:gd fmla="val 16576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p25"/>
          <p:cNvSpPr txBox="1"/>
          <p:nvPr/>
        </p:nvSpPr>
        <p:spPr>
          <a:xfrm>
            <a:off x="2581275" y="5162103"/>
            <a:ext cx="7610475" cy="308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rPr>
              <a:t>Daily Operations:</a:t>
            </a:r>
            <a:r>
              <a:rPr b="0" i="0" lang="en-US" sz="1425" u="none" cap="none" strike="noStrike">
                <a:solidFill>
                  <a:srgbClr val="1E293B"/>
                </a:solidFill>
                <a:latin typeface="Roboto Medium"/>
                <a:ea typeface="Roboto Medium"/>
                <a:cs typeface="Roboto Medium"/>
                <a:sym typeface="Roboto Medium"/>
              </a:rPr>
              <a:t> Compile and deliver daily operational roll-ups for morning DBA reviews.</a:t>
            </a:r>
            <a:endParaRPr/>
          </a:p>
        </p:txBody>
      </p:sp>
      <p:sp>
        <p:nvSpPr>
          <p:cNvPr id="493" name="Google Shape;493;p25"/>
          <p:cNvSpPr/>
          <p:nvPr/>
        </p:nvSpPr>
        <p:spPr>
          <a:xfrm>
            <a:off x="1809750" y="5899249"/>
            <a:ext cx="8572500" cy="689520"/>
          </a:xfrm>
          <a:prstGeom prst="roundRect">
            <a:avLst>
              <a:gd fmla="val 16576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" name="Google Shape;494;p25"/>
          <p:cNvSpPr txBox="1"/>
          <p:nvPr/>
        </p:nvSpPr>
        <p:spPr>
          <a:xfrm>
            <a:off x="2609850" y="6089749"/>
            <a:ext cx="7581900" cy="308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rPr>
              <a:t>Monitoring Snapshots:</a:t>
            </a:r>
            <a:r>
              <a:rPr b="0" i="0" lang="en-US" sz="1425" u="none" cap="none" strike="noStrike">
                <a:solidFill>
                  <a:srgbClr val="1E293B"/>
                </a:solidFill>
                <a:latin typeface="Roboto Medium"/>
                <a:ea typeface="Roboto Medium"/>
                <a:cs typeface="Roboto Medium"/>
                <a:sym typeface="Roboto Medium"/>
              </a:rPr>
              <a:t> Capture deep-dive telemetry snapshots exactly when an incident occurs.</a:t>
            </a:r>
            <a:endParaRPr/>
          </a:p>
        </p:txBody>
      </p:sp>
      <p:sp>
        <p:nvSpPr>
          <p:cNvPr id="495" name="Google Shape;495;p25"/>
          <p:cNvSpPr/>
          <p:nvPr/>
        </p:nvSpPr>
        <p:spPr>
          <a:xfrm>
            <a:off x="1809750" y="6826894"/>
            <a:ext cx="8572500" cy="978991"/>
          </a:xfrm>
          <a:prstGeom prst="roundRect">
            <a:avLst>
              <a:gd fmla="val 11675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p25"/>
          <p:cNvSpPr txBox="1"/>
          <p:nvPr/>
        </p:nvSpPr>
        <p:spPr>
          <a:xfrm>
            <a:off x="2638425" y="7017394"/>
            <a:ext cx="7553325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rPr>
              <a:t>ITSM Integration:</a:t>
            </a:r>
            <a:r>
              <a:rPr b="0" i="0" lang="en-US" sz="1425" u="none" cap="none" strike="noStrike">
                <a:solidFill>
                  <a:srgbClr val="1E293B"/>
                </a:solidFill>
                <a:latin typeface="Roboto Medium"/>
                <a:ea typeface="Roboto Medium"/>
                <a:cs typeface="Roboto Medium"/>
                <a:sym typeface="Roboto Medium"/>
              </a:rPr>
              <a:t> Seamless incident logging automation (e.g., Jira, ServiceNow) with AI notes appended.</a:t>
            </a:r>
            <a:endParaRPr/>
          </a:p>
        </p:txBody>
      </p:sp>
      <p:sp>
        <p:nvSpPr>
          <p:cNvPr id="497" name="Google Shape;497;p25"/>
          <p:cNvSpPr/>
          <p:nvPr/>
        </p:nvSpPr>
        <p:spPr>
          <a:xfrm>
            <a:off x="1809750" y="2579191"/>
            <a:ext cx="85725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" name="Google Shape;498;p25"/>
          <p:cNvSpPr/>
          <p:nvPr/>
        </p:nvSpPr>
        <p:spPr>
          <a:xfrm>
            <a:off x="1809750" y="3796307"/>
            <a:ext cx="85725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" name="Google Shape;499;p25"/>
          <p:cNvSpPr/>
          <p:nvPr/>
        </p:nvSpPr>
        <p:spPr>
          <a:xfrm>
            <a:off x="1809750" y="4723953"/>
            <a:ext cx="85725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p25"/>
          <p:cNvSpPr/>
          <p:nvPr/>
        </p:nvSpPr>
        <p:spPr>
          <a:xfrm>
            <a:off x="1809750" y="5651599"/>
            <a:ext cx="85725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Google Shape;501;p25"/>
          <p:cNvSpPr/>
          <p:nvPr/>
        </p:nvSpPr>
        <p:spPr>
          <a:xfrm>
            <a:off x="1809750" y="6579244"/>
            <a:ext cx="85725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p25"/>
          <p:cNvSpPr/>
          <p:nvPr/>
        </p:nvSpPr>
        <p:spPr>
          <a:xfrm>
            <a:off x="1809750" y="7796361"/>
            <a:ext cx="85725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503" name="Google Shape;503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009775" y="1975395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04" name="Google Shape;504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009775" y="3192512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05" name="Google Shape;505;p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009775" y="4264818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06" name="Google Shape;506;p2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009775" y="5192464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07" name="Google Shape;507;p2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2009775" y="6120110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08" name="Google Shape;508;p2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2009775" y="7192565"/>
            <a:ext cx="257175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509" name="Google Shape;509;p25"/>
          <p:cNvSpPr txBox="1"/>
          <p:nvPr/>
        </p:nvSpPr>
        <p:spPr>
          <a:xfrm>
            <a:off x="762000" y="571500"/>
            <a:ext cx="112014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Automation Features</a:t>
            </a:r>
            <a:endParaRPr/>
          </a:p>
        </p:txBody>
      </p:sp>
      <p:sp>
        <p:nvSpPr>
          <p:cNvPr id="510" name="Google Shape;510;p25"/>
          <p:cNvSpPr/>
          <p:nvPr/>
        </p:nvSpPr>
        <p:spPr>
          <a:xfrm>
            <a:off x="762000" y="1200150"/>
            <a:ext cx="10668000" cy="28575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515" name="Google Shape;515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16" name="Google Shape;516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2088951"/>
            <a:ext cx="3365450" cy="371832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17" name="Google Shape;517;p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413200" y="2088951"/>
            <a:ext cx="3365450" cy="371832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18" name="Google Shape;518;p2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64400" y="2088951"/>
            <a:ext cx="3365450" cy="371832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19" name="Google Shape;519;p2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063650" y="2479476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520" name="Google Shape;520;p26"/>
          <p:cNvSpPr txBox="1"/>
          <p:nvPr/>
        </p:nvSpPr>
        <p:spPr>
          <a:xfrm>
            <a:off x="1629548" y="3479601"/>
            <a:ext cx="1630203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9333E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Backend &amp; AI</a:t>
            </a:r>
            <a:endParaRPr/>
          </a:p>
        </p:txBody>
      </p:sp>
      <p:pic>
        <p:nvPicPr>
          <p:cNvPr descr="image.png" id="521" name="Google Shape;521;p2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14851" y="2479476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522" name="Google Shape;522;p26"/>
          <p:cNvSpPr txBox="1"/>
          <p:nvPr/>
        </p:nvSpPr>
        <p:spPr>
          <a:xfrm>
            <a:off x="4960709" y="3479601"/>
            <a:ext cx="2270283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0284C7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Data &amp; Monitoring</a:t>
            </a:r>
            <a:endParaRPr/>
          </a:p>
        </p:txBody>
      </p:sp>
      <p:pic>
        <p:nvPicPr>
          <p:cNvPr descr="image.png" id="523" name="Google Shape;523;p2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366051" y="2479476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524" name="Google Shape;524;p26"/>
          <p:cNvSpPr txBox="1"/>
          <p:nvPr/>
        </p:nvSpPr>
        <p:spPr>
          <a:xfrm>
            <a:off x="8511897" y="3479601"/>
            <a:ext cx="2470308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47556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Tools &amp; Automation</a:t>
            </a:r>
            <a:endParaRPr/>
          </a:p>
        </p:txBody>
      </p:sp>
      <p:pic>
        <p:nvPicPr>
          <p:cNvPr descr="image.png" id="525" name="Google Shape;525;p26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2311300" y="2708076"/>
            <a:ext cx="2667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526" name="Google Shape;526;p26"/>
          <p:cNvSpPr txBox="1"/>
          <p:nvPr/>
        </p:nvSpPr>
        <p:spPr>
          <a:xfrm>
            <a:off x="1247775" y="4060626"/>
            <a:ext cx="2584400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Language:</a:t>
            </a:r>
            <a:r>
              <a:rPr b="0" i="0" lang="en-US" sz="120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 Python</a:t>
            </a:r>
            <a:endParaRPr/>
          </a:p>
        </p:txBody>
      </p:sp>
      <p:sp>
        <p:nvSpPr>
          <p:cNvPr id="527" name="Google Shape;527;p26"/>
          <p:cNvSpPr txBox="1"/>
          <p:nvPr/>
        </p:nvSpPr>
        <p:spPr>
          <a:xfrm>
            <a:off x="1247775" y="4399657"/>
            <a:ext cx="2584400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Framework:</a:t>
            </a:r>
            <a:r>
              <a:rPr b="0" i="0" lang="en-US" sz="120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 FastAPI</a:t>
            </a:r>
            <a:endParaRPr/>
          </a:p>
        </p:txBody>
      </p:sp>
      <p:sp>
        <p:nvSpPr>
          <p:cNvPr id="528" name="Google Shape;528;p26"/>
          <p:cNvSpPr txBox="1"/>
          <p:nvPr/>
        </p:nvSpPr>
        <p:spPr>
          <a:xfrm>
            <a:off x="1247775" y="4738687"/>
            <a:ext cx="2584400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AI Integration:</a:t>
            </a:r>
            <a:r>
              <a:rPr b="0" i="0" lang="en-US" sz="120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 OpenRouter API</a:t>
            </a:r>
            <a:endParaRPr/>
          </a:p>
        </p:txBody>
      </p:sp>
      <p:sp>
        <p:nvSpPr>
          <p:cNvPr id="529" name="Google Shape;529;p26"/>
          <p:cNvSpPr txBox="1"/>
          <p:nvPr/>
        </p:nvSpPr>
        <p:spPr>
          <a:xfrm>
            <a:off x="1247775" y="5077717"/>
            <a:ext cx="2584400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Models:</a:t>
            </a:r>
            <a:r>
              <a:rPr b="0" i="0" lang="en-US" sz="120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 OpenAI GPT series</a:t>
            </a:r>
            <a:endParaRPr/>
          </a:p>
        </p:txBody>
      </p:sp>
      <p:pic>
        <p:nvPicPr>
          <p:cNvPr descr="image.png" id="530" name="Google Shape;530;p26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5962501" y="2708076"/>
            <a:ext cx="2667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531" name="Google Shape;531;p26"/>
          <p:cNvSpPr txBox="1"/>
          <p:nvPr/>
        </p:nvSpPr>
        <p:spPr>
          <a:xfrm>
            <a:off x="4898975" y="4060626"/>
            <a:ext cx="2584400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DB:</a:t>
            </a:r>
            <a:r>
              <a:rPr b="0" i="0" lang="en-US" sz="120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 Microsoft SQL Server, Azure SQL</a:t>
            </a:r>
            <a:endParaRPr/>
          </a:p>
        </p:txBody>
      </p:sp>
      <p:sp>
        <p:nvSpPr>
          <p:cNvPr id="532" name="Google Shape;532;p26"/>
          <p:cNvSpPr txBox="1"/>
          <p:nvPr/>
        </p:nvSpPr>
        <p:spPr>
          <a:xfrm>
            <a:off x="4898975" y="4399657"/>
            <a:ext cx="2584400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Drivers:</a:t>
            </a:r>
            <a:r>
              <a:rPr b="0" i="0" lang="en-US" sz="120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 pymssql, pyodbc</a:t>
            </a:r>
            <a:endParaRPr/>
          </a:p>
        </p:txBody>
      </p:sp>
      <p:sp>
        <p:nvSpPr>
          <p:cNvPr id="533" name="Google Shape;533;p26"/>
          <p:cNvSpPr txBox="1"/>
          <p:nvPr/>
        </p:nvSpPr>
        <p:spPr>
          <a:xfrm>
            <a:off x="4898975" y="4738687"/>
            <a:ext cx="2584400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Monitoring:</a:t>
            </a:r>
            <a:r>
              <a:rPr b="0" i="0" lang="en-US" sz="120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 Azure Monitor</a:t>
            </a:r>
            <a:endParaRPr/>
          </a:p>
        </p:txBody>
      </p:sp>
      <p:sp>
        <p:nvSpPr>
          <p:cNvPr id="534" name="Google Shape;534;p26"/>
          <p:cNvSpPr txBox="1"/>
          <p:nvPr/>
        </p:nvSpPr>
        <p:spPr>
          <a:xfrm>
            <a:off x="4898975" y="5077717"/>
            <a:ext cx="2584400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Logs:</a:t>
            </a:r>
            <a:r>
              <a:rPr b="0" i="0" lang="en-US" sz="120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 Log Analytics</a:t>
            </a:r>
            <a:endParaRPr/>
          </a:p>
        </p:txBody>
      </p:sp>
      <p:pic>
        <p:nvPicPr>
          <p:cNvPr descr="image.png" id="535" name="Google Shape;535;p26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9613701" y="2708076"/>
            <a:ext cx="2667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536" name="Google Shape;536;p26"/>
          <p:cNvSpPr txBox="1"/>
          <p:nvPr/>
        </p:nvSpPr>
        <p:spPr>
          <a:xfrm>
            <a:off x="8550175" y="4060626"/>
            <a:ext cx="2584400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Orchestration:</a:t>
            </a:r>
            <a:r>
              <a:rPr b="0" i="0" lang="en-US" sz="120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 Azure Automation</a:t>
            </a:r>
            <a:endParaRPr/>
          </a:p>
        </p:txBody>
      </p:sp>
      <p:sp>
        <p:nvSpPr>
          <p:cNvPr id="537" name="Google Shape;537;p26"/>
          <p:cNvSpPr txBox="1"/>
          <p:nvPr/>
        </p:nvSpPr>
        <p:spPr>
          <a:xfrm>
            <a:off x="8550175" y="4399657"/>
            <a:ext cx="2584400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Editor:</a:t>
            </a:r>
            <a:r>
              <a:rPr b="0" i="0" lang="en-US" sz="120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 VS Code</a:t>
            </a:r>
            <a:endParaRPr/>
          </a:p>
        </p:txBody>
      </p:sp>
      <p:sp>
        <p:nvSpPr>
          <p:cNvPr id="538" name="Google Shape;538;p26"/>
          <p:cNvSpPr txBox="1"/>
          <p:nvPr/>
        </p:nvSpPr>
        <p:spPr>
          <a:xfrm>
            <a:off x="8550175" y="4738687"/>
            <a:ext cx="2584400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VCS:</a:t>
            </a:r>
            <a:r>
              <a:rPr b="0" i="0" lang="en-US" sz="120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 Git</a:t>
            </a:r>
            <a:endParaRPr/>
          </a:p>
        </p:txBody>
      </p:sp>
      <p:sp>
        <p:nvSpPr>
          <p:cNvPr id="539" name="Google Shape;539;p26"/>
          <p:cNvSpPr txBox="1"/>
          <p:nvPr/>
        </p:nvSpPr>
        <p:spPr>
          <a:xfrm>
            <a:off x="8550175" y="5077717"/>
            <a:ext cx="2584400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Platform:</a:t>
            </a:r>
            <a:r>
              <a:rPr b="0" i="0" lang="en-US" sz="120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 GitHub</a:t>
            </a:r>
            <a:endParaRPr/>
          </a:p>
        </p:txBody>
      </p:sp>
      <p:sp>
        <p:nvSpPr>
          <p:cNvPr id="540" name="Google Shape;540;p26"/>
          <p:cNvSpPr txBox="1"/>
          <p:nvPr/>
        </p:nvSpPr>
        <p:spPr>
          <a:xfrm>
            <a:off x="1057275" y="4041576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563EB"/>
                </a:solidFill>
                <a:latin typeface="Roboto"/>
                <a:ea typeface="Roboto"/>
                <a:cs typeface="Roboto"/>
                <a:sym typeface="Roboto"/>
              </a:rPr>
              <a:t>•</a:t>
            </a:r>
            <a:endParaRPr/>
          </a:p>
        </p:txBody>
      </p:sp>
      <p:sp>
        <p:nvSpPr>
          <p:cNvPr id="541" name="Google Shape;541;p26"/>
          <p:cNvSpPr txBox="1"/>
          <p:nvPr/>
        </p:nvSpPr>
        <p:spPr>
          <a:xfrm>
            <a:off x="1057275" y="4380607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563EB"/>
                </a:solidFill>
                <a:latin typeface="Roboto"/>
                <a:ea typeface="Roboto"/>
                <a:cs typeface="Roboto"/>
                <a:sym typeface="Roboto"/>
              </a:rPr>
              <a:t>•</a:t>
            </a:r>
            <a:endParaRPr/>
          </a:p>
        </p:txBody>
      </p:sp>
      <p:sp>
        <p:nvSpPr>
          <p:cNvPr id="542" name="Google Shape;542;p26"/>
          <p:cNvSpPr txBox="1"/>
          <p:nvPr/>
        </p:nvSpPr>
        <p:spPr>
          <a:xfrm>
            <a:off x="1057275" y="4719637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563EB"/>
                </a:solidFill>
                <a:latin typeface="Roboto"/>
                <a:ea typeface="Roboto"/>
                <a:cs typeface="Roboto"/>
                <a:sym typeface="Roboto"/>
              </a:rPr>
              <a:t>•</a:t>
            </a:r>
            <a:endParaRPr/>
          </a:p>
        </p:txBody>
      </p:sp>
      <p:sp>
        <p:nvSpPr>
          <p:cNvPr id="543" name="Google Shape;543;p26"/>
          <p:cNvSpPr txBox="1"/>
          <p:nvPr/>
        </p:nvSpPr>
        <p:spPr>
          <a:xfrm>
            <a:off x="1057275" y="5058667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563EB"/>
                </a:solidFill>
                <a:latin typeface="Roboto"/>
                <a:ea typeface="Roboto"/>
                <a:cs typeface="Roboto"/>
                <a:sym typeface="Roboto"/>
              </a:rPr>
              <a:t>•</a:t>
            </a:r>
            <a:endParaRPr/>
          </a:p>
        </p:txBody>
      </p:sp>
      <p:sp>
        <p:nvSpPr>
          <p:cNvPr id="544" name="Google Shape;544;p26"/>
          <p:cNvSpPr txBox="1"/>
          <p:nvPr/>
        </p:nvSpPr>
        <p:spPr>
          <a:xfrm>
            <a:off x="4708475" y="4041576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563EB"/>
                </a:solidFill>
                <a:latin typeface="Roboto"/>
                <a:ea typeface="Roboto"/>
                <a:cs typeface="Roboto"/>
                <a:sym typeface="Roboto"/>
              </a:rPr>
              <a:t>•</a:t>
            </a:r>
            <a:endParaRPr/>
          </a:p>
        </p:txBody>
      </p:sp>
      <p:sp>
        <p:nvSpPr>
          <p:cNvPr id="545" name="Google Shape;545;p26"/>
          <p:cNvSpPr txBox="1"/>
          <p:nvPr/>
        </p:nvSpPr>
        <p:spPr>
          <a:xfrm>
            <a:off x="4708475" y="4380607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563EB"/>
                </a:solidFill>
                <a:latin typeface="Roboto"/>
                <a:ea typeface="Roboto"/>
                <a:cs typeface="Roboto"/>
                <a:sym typeface="Roboto"/>
              </a:rPr>
              <a:t>•</a:t>
            </a:r>
            <a:endParaRPr/>
          </a:p>
        </p:txBody>
      </p:sp>
      <p:sp>
        <p:nvSpPr>
          <p:cNvPr id="546" name="Google Shape;546;p26"/>
          <p:cNvSpPr txBox="1"/>
          <p:nvPr/>
        </p:nvSpPr>
        <p:spPr>
          <a:xfrm>
            <a:off x="4708475" y="4719637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563EB"/>
                </a:solidFill>
                <a:latin typeface="Roboto"/>
                <a:ea typeface="Roboto"/>
                <a:cs typeface="Roboto"/>
                <a:sym typeface="Roboto"/>
              </a:rPr>
              <a:t>•</a:t>
            </a:r>
            <a:endParaRPr/>
          </a:p>
        </p:txBody>
      </p:sp>
      <p:sp>
        <p:nvSpPr>
          <p:cNvPr id="547" name="Google Shape;547;p26"/>
          <p:cNvSpPr txBox="1"/>
          <p:nvPr/>
        </p:nvSpPr>
        <p:spPr>
          <a:xfrm>
            <a:off x="4708475" y="5058667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563EB"/>
                </a:solidFill>
                <a:latin typeface="Roboto"/>
                <a:ea typeface="Roboto"/>
                <a:cs typeface="Roboto"/>
                <a:sym typeface="Roboto"/>
              </a:rPr>
              <a:t>•</a:t>
            </a:r>
            <a:endParaRPr/>
          </a:p>
        </p:txBody>
      </p:sp>
      <p:sp>
        <p:nvSpPr>
          <p:cNvPr id="548" name="Google Shape;548;p26"/>
          <p:cNvSpPr txBox="1"/>
          <p:nvPr/>
        </p:nvSpPr>
        <p:spPr>
          <a:xfrm>
            <a:off x="8359675" y="4041576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563EB"/>
                </a:solidFill>
                <a:latin typeface="Roboto"/>
                <a:ea typeface="Roboto"/>
                <a:cs typeface="Roboto"/>
                <a:sym typeface="Roboto"/>
              </a:rPr>
              <a:t>•</a:t>
            </a:r>
            <a:endParaRPr/>
          </a:p>
        </p:txBody>
      </p:sp>
      <p:sp>
        <p:nvSpPr>
          <p:cNvPr id="549" name="Google Shape;549;p26"/>
          <p:cNvSpPr txBox="1"/>
          <p:nvPr/>
        </p:nvSpPr>
        <p:spPr>
          <a:xfrm>
            <a:off x="8359675" y="4380607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563EB"/>
                </a:solidFill>
                <a:latin typeface="Roboto"/>
                <a:ea typeface="Roboto"/>
                <a:cs typeface="Roboto"/>
                <a:sym typeface="Roboto"/>
              </a:rPr>
              <a:t>•</a:t>
            </a:r>
            <a:endParaRPr/>
          </a:p>
        </p:txBody>
      </p:sp>
      <p:sp>
        <p:nvSpPr>
          <p:cNvPr id="550" name="Google Shape;550;p26"/>
          <p:cNvSpPr txBox="1"/>
          <p:nvPr/>
        </p:nvSpPr>
        <p:spPr>
          <a:xfrm>
            <a:off x="8359675" y="4719637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563EB"/>
                </a:solidFill>
                <a:latin typeface="Roboto"/>
                <a:ea typeface="Roboto"/>
                <a:cs typeface="Roboto"/>
                <a:sym typeface="Roboto"/>
              </a:rPr>
              <a:t>•</a:t>
            </a:r>
            <a:endParaRPr/>
          </a:p>
        </p:txBody>
      </p:sp>
      <p:sp>
        <p:nvSpPr>
          <p:cNvPr id="551" name="Google Shape;551;p26"/>
          <p:cNvSpPr txBox="1"/>
          <p:nvPr/>
        </p:nvSpPr>
        <p:spPr>
          <a:xfrm>
            <a:off x="8359675" y="5058667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563EB"/>
                </a:solidFill>
                <a:latin typeface="Roboto"/>
                <a:ea typeface="Roboto"/>
                <a:cs typeface="Roboto"/>
                <a:sym typeface="Roboto"/>
              </a:rPr>
              <a:t>•</a:t>
            </a:r>
            <a:endParaRPr/>
          </a:p>
        </p:txBody>
      </p:sp>
      <p:sp>
        <p:nvSpPr>
          <p:cNvPr id="552" name="Google Shape;552;p26"/>
          <p:cNvSpPr txBox="1"/>
          <p:nvPr/>
        </p:nvSpPr>
        <p:spPr>
          <a:xfrm>
            <a:off x="762000" y="571500"/>
            <a:ext cx="112014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Technology Stack</a:t>
            </a:r>
            <a:endParaRPr/>
          </a:p>
        </p:txBody>
      </p:sp>
      <p:sp>
        <p:nvSpPr>
          <p:cNvPr id="553" name="Google Shape;553;p26"/>
          <p:cNvSpPr/>
          <p:nvPr/>
        </p:nvSpPr>
        <p:spPr>
          <a:xfrm>
            <a:off x="762000" y="1200150"/>
            <a:ext cx="10668000" cy="28575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557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558" name="Google Shape;558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59" name="Google Shape;559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1609725"/>
            <a:ext cx="5143500" cy="505896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60" name="Google Shape;560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1609725"/>
            <a:ext cx="5143500" cy="5058965"/>
          </a:xfrm>
          <a:prstGeom prst="rect">
            <a:avLst/>
          </a:prstGeom>
          <a:noFill/>
          <a:ln>
            <a:noFill/>
          </a:ln>
        </p:spPr>
      </p:pic>
      <p:sp>
        <p:nvSpPr>
          <p:cNvPr id="561" name="Google Shape;561;p27"/>
          <p:cNvSpPr txBox="1"/>
          <p:nvPr/>
        </p:nvSpPr>
        <p:spPr>
          <a:xfrm>
            <a:off x="1152525" y="2047875"/>
            <a:ext cx="4580572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1432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10B98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Completed Work</a:t>
            </a:r>
            <a:endParaRPr/>
          </a:p>
        </p:txBody>
      </p:sp>
      <p:sp>
        <p:nvSpPr>
          <p:cNvPr id="562" name="Google Shape;562;p27"/>
          <p:cNvSpPr/>
          <p:nvPr/>
        </p:nvSpPr>
        <p:spPr>
          <a:xfrm>
            <a:off x="1152525" y="2486025"/>
            <a:ext cx="4362450" cy="1905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3" name="Google Shape;563;p27"/>
          <p:cNvSpPr txBox="1"/>
          <p:nvPr/>
        </p:nvSpPr>
        <p:spPr>
          <a:xfrm>
            <a:off x="6677025" y="2047875"/>
            <a:ext cx="4580572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7147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F59E0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Currently In Progress</a:t>
            </a:r>
            <a:endParaRPr/>
          </a:p>
        </p:txBody>
      </p:sp>
      <p:sp>
        <p:nvSpPr>
          <p:cNvPr id="564" name="Google Shape;564;p27"/>
          <p:cNvSpPr/>
          <p:nvPr/>
        </p:nvSpPr>
        <p:spPr>
          <a:xfrm>
            <a:off x="6677025" y="2486025"/>
            <a:ext cx="4362450" cy="1905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565" name="Google Shape;565;p2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52525" y="2076450"/>
            <a:ext cx="219075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566" name="Google Shape;566;p27"/>
          <p:cNvSpPr txBox="1"/>
          <p:nvPr/>
        </p:nvSpPr>
        <p:spPr>
          <a:xfrm>
            <a:off x="1419225" y="2743200"/>
            <a:ext cx="4095750" cy="289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Project structure setup &amp; initialization</a:t>
            </a:r>
            <a:endParaRPr/>
          </a:p>
        </p:txBody>
      </p:sp>
      <p:sp>
        <p:nvSpPr>
          <p:cNvPr id="567" name="Google Shape;567;p27"/>
          <p:cNvSpPr txBox="1"/>
          <p:nvPr/>
        </p:nvSpPr>
        <p:spPr>
          <a:xfrm>
            <a:off x="1419225" y="3185070"/>
            <a:ext cx="4095750" cy="289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Git repository established</a:t>
            </a:r>
            <a:endParaRPr/>
          </a:p>
        </p:txBody>
      </p:sp>
      <p:sp>
        <p:nvSpPr>
          <p:cNvPr id="568" name="Google Shape;568;p27"/>
          <p:cNvSpPr txBox="1"/>
          <p:nvPr/>
        </p:nvSpPr>
        <p:spPr>
          <a:xfrm>
            <a:off x="1419225" y="3626941"/>
            <a:ext cx="4095750" cy="289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Python virtual environment and dependencies</a:t>
            </a:r>
            <a:endParaRPr/>
          </a:p>
        </p:txBody>
      </p:sp>
      <p:sp>
        <p:nvSpPr>
          <p:cNvPr id="569" name="Google Shape;569;p27"/>
          <p:cNvSpPr txBox="1"/>
          <p:nvPr/>
        </p:nvSpPr>
        <p:spPr>
          <a:xfrm>
            <a:off x="1419225" y="4068812"/>
            <a:ext cx="4095750" cy="289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Comprehensive architecture planning</a:t>
            </a:r>
            <a:endParaRPr/>
          </a:p>
        </p:txBody>
      </p:sp>
      <p:sp>
        <p:nvSpPr>
          <p:cNvPr id="570" name="Google Shape;570;p27"/>
          <p:cNvSpPr txBox="1"/>
          <p:nvPr/>
        </p:nvSpPr>
        <p:spPr>
          <a:xfrm>
            <a:off x="1419225" y="4510682"/>
            <a:ext cx="4095750" cy="289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MCP architecture definition</a:t>
            </a:r>
            <a:endParaRPr/>
          </a:p>
        </p:txBody>
      </p:sp>
      <p:sp>
        <p:nvSpPr>
          <p:cNvPr id="571" name="Google Shape;571;p27"/>
          <p:cNvSpPr txBox="1"/>
          <p:nvPr/>
        </p:nvSpPr>
        <p:spPr>
          <a:xfrm>
            <a:off x="1419225" y="4952553"/>
            <a:ext cx="4095750" cy="289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AI DB Agent foundational logic</a:t>
            </a:r>
            <a:endParaRPr/>
          </a:p>
        </p:txBody>
      </p:sp>
      <p:sp>
        <p:nvSpPr>
          <p:cNvPr id="572" name="Google Shape;572;p27"/>
          <p:cNvSpPr txBox="1"/>
          <p:nvPr/>
        </p:nvSpPr>
        <p:spPr>
          <a:xfrm>
            <a:off x="1419225" y="5394424"/>
            <a:ext cx="4095750" cy="289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OpenRouter AI integration testing</a:t>
            </a:r>
            <a:endParaRPr/>
          </a:p>
        </p:txBody>
      </p:sp>
      <p:sp>
        <p:nvSpPr>
          <p:cNvPr id="573" name="Google Shape;573;p27"/>
          <p:cNvSpPr txBox="1"/>
          <p:nvPr/>
        </p:nvSpPr>
        <p:spPr>
          <a:xfrm>
            <a:off x="1419225" y="5836294"/>
            <a:ext cx="4095750" cy="289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Monitoring framework structure designed</a:t>
            </a:r>
            <a:endParaRPr/>
          </a:p>
        </p:txBody>
      </p:sp>
      <p:pic>
        <p:nvPicPr>
          <p:cNvPr descr="image.png" id="574" name="Google Shape;574;p2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677025" y="2076450"/>
            <a:ext cx="276225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575" name="Google Shape;575;p27"/>
          <p:cNvSpPr txBox="1"/>
          <p:nvPr/>
        </p:nvSpPr>
        <p:spPr>
          <a:xfrm>
            <a:off x="6943725" y="2743200"/>
            <a:ext cx="4095750" cy="289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Developing distinct monitoring collectors</a:t>
            </a:r>
            <a:endParaRPr/>
          </a:p>
        </p:txBody>
      </p:sp>
      <p:sp>
        <p:nvSpPr>
          <p:cNvPr id="576" name="Google Shape;576;p27"/>
          <p:cNvSpPr txBox="1"/>
          <p:nvPr/>
        </p:nvSpPr>
        <p:spPr>
          <a:xfrm>
            <a:off x="6943725" y="3185070"/>
            <a:ext cx="4095750" cy="289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Writing &amp; optimizing SQL monitoring queries</a:t>
            </a:r>
            <a:endParaRPr/>
          </a:p>
        </p:txBody>
      </p:sp>
      <p:sp>
        <p:nvSpPr>
          <p:cNvPr id="577" name="Google Shape;577;p27"/>
          <p:cNvSpPr txBox="1"/>
          <p:nvPr/>
        </p:nvSpPr>
        <p:spPr>
          <a:xfrm>
            <a:off x="6943725" y="3626941"/>
            <a:ext cx="4095750" cy="289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Active MCP Server implementation</a:t>
            </a:r>
            <a:endParaRPr/>
          </a:p>
        </p:txBody>
      </p:sp>
      <p:sp>
        <p:nvSpPr>
          <p:cNvPr id="578" name="Google Shape;578;p27"/>
          <p:cNvSpPr txBox="1"/>
          <p:nvPr/>
        </p:nvSpPr>
        <p:spPr>
          <a:xfrm>
            <a:off x="6943725" y="4068812"/>
            <a:ext cx="4095750" cy="289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Designing initial reporting workflows</a:t>
            </a:r>
            <a:endParaRPr/>
          </a:p>
        </p:txBody>
      </p:sp>
      <p:sp>
        <p:nvSpPr>
          <p:cNvPr id="579" name="Google Shape;579;p27"/>
          <p:cNvSpPr txBox="1"/>
          <p:nvPr/>
        </p:nvSpPr>
        <p:spPr>
          <a:xfrm>
            <a:off x="6943725" y="4510682"/>
            <a:ext cx="4095750" cy="289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Establishing connection pooling mechanisms</a:t>
            </a:r>
            <a:endParaRPr/>
          </a:p>
        </p:txBody>
      </p:sp>
      <p:sp>
        <p:nvSpPr>
          <p:cNvPr id="580" name="Google Shape;580;p27"/>
          <p:cNvSpPr txBox="1"/>
          <p:nvPr/>
        </p:nvSpPr>
        <p:spPr>
          <a:xfrm>
            <a:off x="1152525" y="2743200"/>
            <a:ext cx="1809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2563EB"/>
                </a:solidFill>
                <a:latin typeface="Roboto"/>
                <a:ea typeface="Roboto"/>
                <a:cs typeface="Roboto"/>
                <a:sym typeface="Roboto"/>
              </a:rPr>
              <a:t>→</a:t>
            </a:r>
            <a:endParaRPr/>
          </a:p>
        </p:txBody>
      </p:sp>
      <p:sp>
        <p:nvSpPr>
          <p:cNvPr id="581" name="Google Shape;581;p27"/>
          <p:cNvSpPr txBox="1"/>
          <p:nvPr/>
        </p:nvSpPr>
        <p:spPr>
          <a:xfrm>
            <a:off x="1152525" y="3185070"/>
            <a:ext cx="1809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2563EB"/>
                </a:solidFill>
                <a:latin typeface="Roboto"/>
                <a:ea typeface="Roboto"/>
                <a:cs typeface="Roboto"/>
                <a:sym typeface="Roboto"/>
              </a:rPr>
              <a:t>→</a:t>
            </a:r>
            <a:endParaRPr/>
          </a:p>
        </p:txBody>
      </p:sp>
      <p:sp>
        <p:nvSpPr>
          <p:cNvPr id="582" name="Google Shape;582;p27"/>
          <p:cNvSpPr txBox="1"/>
          <p:nvPr/>
        </p:nvSpPr>
        <p:spPr>
          <a:xfrm>
            <a:off x="1152525" y="3626941"/>
            <a:ext cx="1809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2563EB"/>
                </a:solidFill>
                <a:latin typeface="Roboto"/>
                <a:ea typeface="Roboto"/>
                <a:cs typeface="Roboto"/>
                <a:sym typeface="Roboto"/>
              </a:rPr>
              <a:t>→</a:t>
            </a:r>
            <a:endParaRPr/>
          </a:p>
        </p:txBody>
      </p:sp>
      <p:sp>
        <p:nvSpPr>
          <p:cNvPr id="583" name="Google Shape;583;p27"/>
          <p:cNvSpPr txBox="1"/>
          <p:nvPr/>
        </p:nvSpPr>
        <p:spPr>
          <a:xfrm>
            <a:off x="1152525" y="4068812"/>
            <a:ext cx="1809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2563EB"/>
                </a:solidFill>
                <a:latin typeface="Roboto"/>
                <a:ea typeface="Roboto"/>
                <a:cs typeface="Roboto"/>
                <a:sym typeface="Roboto"/>
              </a:rPr>
              <a:t>→</a:t>
            </a:r>
            <a:endParaRPr/>
          </a:p>
        </p:txBody>
      </p:sp>
      <p:sp>
        <p:nvSpPr>
          <p:cNvPr id="584" name="Google Shape;584;p27"/>
          <p:cNvSpPr txBox="1"/>
          <p:nvPr/>
        </p:nvSpPr>
        <p:spPr>
          <a:xfrm>
            <a:off x="1152525" y="4510682"/>
            <a:ext cx="1809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2563EB"/>
                </a:solidFill>
                <a:latin typeface="Roboto"/>
                <a:ea typeface="Roboto"/>
                <a:cs typeface="Roboto"/>
                <a:sym typeface="Roboto"/>
              </a:rPr>
              <a:t>→</a:t>
            </a:r>
            <a:endParaRPr/>
          </a:p>
        </p:txBody>
      </p:sp>
      <p:sp>
        <p:nvSpPr>
          <p:cNvPr id="585" name="Google Shape;585;p27"/>
          <p:cNvSpPr txBox="1"/>
          <p:nvPr/>
        </p:nvSpPr>
        <p:spPr>
          <a:xfrm>
            <a:off x="1152525" y="4952553"/>
            <a:ext cx="1809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2563EB"/>
                </a:solidFill>
                <a:latin typeface="Roboto"/>
                <a:ea typeface="Roboto"/>
                <a:cs typeface="Roboto"/>
                <a:sym typeface="Roboto"/>
              </a:rPr>
              <a:t>→</a:t>
            </a:r>
            <a:endParaRPr/>
          </a:p>
        </p:txBody>
      </p:sp>
      <p:sp>
        <p:nvSpPr>
          <p:cNvPr id="586" name="Google Shape;586;p27"/>
          <p:cNvSpPr txBox="1"/>
          <p:nvPr/>
        </p:nvSpPr>
        <p:spPr>
          <a:xfrm>
            <a:off x="1152525" y="5394424"/>
            <a:ext cx="1809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2563EB"/>
                </a:solidFill>
                <a:latin typeface="Roboto"/>
                <a:ea typeface="Roboto"/>
                <a:cs typeface="Roboto"/>
                <a:sym typeface="Roboto"/>
              </a:rPr>
              <a:t>→</a:t>
            </a:r>
            <a:endParaRPr/>
          </a:p>
        </p:txBody>
      </p:sp>
      <p:sp>
        <p:nvSpPr>
          <p:cNvPr id="587" name="Google Shape;587;p27"/>
          <p:cNvSpPr txBox="1"/>
          <p:nvPr/>
        </p:nvSpPr>
        <p:spPr>
          <a:xfrm>
            <a:off x="1152525" y="5836294"/>
            <a:ext cx="1809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2563EB"/>
                </a:solidFill>
                <a:latin typeface="Roboto"/>
                <a:ea typeface="Roboto"/>
                <a:cs typeface="Roboto"/>
                <a:sym typeface="Roboto"/>
              </a:rPr>
              <a:t>→</a:t>
            </a:r>
            <a:endParaRPr/>
          </a:p>
        </p:txBody>
      </p:sp>
      <p:sp>
        <p:nvSpPr>
          <p:cNvPr id="588" name="Google Shape;588;p27"/>
          <p:cNvSpPr txBox="1"/>
          <p:nvPr/>
        </p:nvSpPr>
        <p:spPr>
          <a:xfrm>
            <a:off x="6677025" y="2743200"/>
            <a:ext cx="1809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2563EB"/>
                </a:solidFill>
                <a:latin typeface="Roboto"/>
                <a:ea typeface="Roboto"/>
                <a:cs typeface="Roboto"/>
                <a:sym typeface="Roboto"/>
              </a:rPr>
              <a:t>→</a:t>
            </a:r>
            <a:endParaRPr/>
          </a:p>
        </p:txBody>
      </p:sp>
      <p:sp>
        <p:nvSpPr>
          <p:cNvPr id="589" name="Google Shape;589;p27"/>
          <p:cNvSpPr txBox="1"/>
          <p:nvPr/>
        </p:nvSpPr>
        <p:spPr>
          <a:xfrm>
            <a:off x="6677025" y="3185070"/>
            <a:ext cx="1809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2563EB"/>
                </a:solidFill>
                <a:latin typeface="Roboto"/>
                <a:ea typeface="Roboto"/>
                <a:cs typeface="Roboto"/>
                <a:sym typeface="Roboto"/>
              </a:rPr>
              <a:t>→</a:t>
            </a:r>
            <a:endParaRPr/>
          </a:p>
        </p:txBody>
      </p:sp>
      <p:sp>
        <p:nvSpPr>
          <p:cNvPr id="590" name="Google Shape;590;p27"/>
          <p:cNvSpPr txBox="1"/>
          <p:nvPr/>
        </p:nvSpPr>
        <p:spPr>
          <a:xfrm>
            <a:off x="6677025" y="3626941"/>
            <a:ext cx="1809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2563EB"/>
                </a:solidFill>
                <a:latin typeface="Roboto"/>
                <a:ea typeface="Roboto"/>
                <a:cs typeface="Roboto"/>
                <a:sym typeface="Roboto"/>
              </a:rPr>
              <a:t>→</a:t>
            </a:r>
            <a:endParaRPr/>
          </a:p>
        </p:txBody>
      </p:sp>
      <p:sp>
        <p:nvSpPr>
          <p:cNvPr id="591" name="Google Shape;591;p27"/>
          <p:cNvSpPr txBox="1"/>
          <p:nvPr/>
        </p:nvSpPr>
        <p:spPr>
          <a:xfrm>
            <a:off x="6677025" y="4068812"/>
            <a:ext cx="1809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2563EB"/>
                </a:solidFill>
                <a:latin typeface="Roboto"/>
                <a:ea typeface="Roboto"/>
                <a:cs typeface="Roboto"/>
                <a:sym typeface="Roboto"/>
              </a:rPr>
              <a:t>→</a:t>
            </a:r>
            <a:endParaRPr/>
          </a:p>
        </p:txBody>
      </p:sp>
      <p:sp>
        <p:nvSpPr>
          <p:cNvPr id="592" name="Google Shape;592;p27"/>
          <p:cNvSpPr txBox="1"/>
          <p:nvPr/>
        </p:nvSpPr>
        <p:spPr>
          <a:xfrm>
            <a:off x="6677025" y="4510682"/>
            <a:ext cx="1809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2563EB"/>
                </a:solidFill>
                <a:latin typeface="Roboto"/>
                <a:ea typeface="Roboto"/>
                <a:cs typeface="Roboto"/>
                <a:sym typeface="Roboto"/>
              </a:rPr>
              <a:t>→</a:t>
            </a:r>
            <a:endParaRPr/>
          </a:p>
        </p:txBody>
      </p:sp>
      <p:sp>
        <p:nvSpPr>
          <p:cNvPr id="593" name="Google Shape;593;p27"/>
          <p:cNvSpPr txBox="1"/>
          <p:nvPr/>
        </p:nvSpPr>
        <p:spPr>
          <a:xfrm>
            <a:off x="762000" y="571500"/>
            <a:ext cx="112014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Current Development Status</a:t>
            </a:r>
            <a:endParaRPr/>
          </a:p>
        </p:txBody>
      </p:sp>
      <p:sp>
        <p:nvSpPr>
          <p:cNvPr id="594" name="Google Shape;594;p27"/>
          <p:cNvSpPr/>
          <p:nvPr/>
        </p:nvSpPr>
        <p:spPr>
          <a:xfrm>
            <a:off x="762000" y="1200150"/>
            <a:ext cx="10668000" cy="28575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598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599" name="Google Shape;599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600" name="Google Shape;600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2043112"/>
            <a:ext cx="50482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601" name="Google Shape;601;p28"/>
          <p:cNvSpPr txBox="1"/>
          <p:nvPr/>
        </p:nvSpPr>
        <p:spPr>
          <a:xfrm>
            <a:off x="762000" y="2114698"/>
            <a:ext cx="5048250" cy="971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The project strictly follows a modular and scalable architecture to support future enhancements and integrate seamlessly into enterprise-level operational workflows.</a:t>
            </a:r>
            <a:endParaRPr/>
          </a:p>
        </p:txBody>
      </p:sp>
      <p:sp>
        <p:nvSpPr>
          <p:cNvPr id="602" name="Google Shape;602;p28"/>
          <p:cNvSpPr txBox="1"/>
          <p:nvPr/>
        </p:nvSpPr>
        <p:spPr>
          <a:xfrm>
            <a:off x="762000" y="3324373"/>
            <a:ext cx="5300662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Core Design Principles</a:t>
            </a:r>
            <a:endParaRPr/>
          </a:p>
        </p:txBody>
      </p:sp>
      <p:sp>
        <p:nvSpPr>
          <p:cNvPr id="603" name="Google Shape;603;p28"/>
          <p:cNvSpPr txBox="1"/>
          <p:nvPr/>
        </p:nvSpPr>
        <p:spPr>
          <a:xfrm>
            <a:off x="1028700" y="3762523"/>
            <a:ext cx="4781550" cy="289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Modular, decoupled architecture</a:t>
            </a:r>
            <a:endParaRPr/>
          </a:p>
        </p:txBody>
      </p:sp>
      <p:sp>
        <p:nvSpPr>
          <p:cNvPr id="604" name="Google Shape;604;p28"/>
          <p:cNvSpPr txBox="1"/>
          <p:nvPr/>
        </p:nvSpPr>
        <p:spPr>
          <a:xfrm>
            <a:off x="1028700" y="4166294"/>
            <a:ext cx="4781550" cy="289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Highly readable and documented code</a:t>
            </a:r>
            <a:endParaRPr/>
          </a:p>
        </p:txBody>
      </p:sp>
      <p:sp>
        <p:nvSpPr>
          <p:cNvPr id="605" name="Google Shape;605;p28"/>
          <p:cNvSpPr txBox="1"/>
          <p:nvPr/>
        </p:nvSpPr>
        <p:spPr>
          <a:xfrm>
            <a:off x="1028700" y="4570065"/>
            <a:ext cx="4781550" cy="289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Governance-oriented workflows built-in</a:t>
            </a:r>
            <a:endParaRPr/>
          </a:p>
        </p:txBody>
      </p:sp>
      <p:sp>
        <p:nvSpPr>
          <p:cNvPr id="606" name="Google Shape;606;p28"/>
          <p:cNvSpPr txBox="1"/>
          <p:nvPr/>
        </p:nvSpPr>
        <p:spPr>
          <a:xfrm>
            <a:off x="1028700" y="4973835"/>
            <a:ext cx="4781550" cy="289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AI-assisted operational intelligence</a:t>
            </a:r>
            <a:endParaRPr/>
          </a:p>
        </p:txBody>
      </p:sp>
      <p:sp>
        <p:nvSpPr>
          <p:cNvPr id="607" name="Google Shape;607;p28"/>
          <p:cNvSpPr txBox="1"/>
          <p:nvPr/>
        </p:nvSpPr>
        <p:spPr>
          <a:xfrm>
            <a:off x="1028700" y="5377606"/>
            <a:ext cx="4781550" cy="289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Controlled, secure automation boundaries</a:t>
            </a:r>
            <a:endParaRPr/>
          </a:p>
        </p:txBody>
      </p:sp>
      <p:pic>
        <p:nvPicPr>
          <p:cNvPr descr="image.png" id="608" name="Google Shape;608;p2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91275" y="2052637"/>
            <a:ext cx="5029200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609" name="Google Shape;609;p28"/>
          <p:cNvSpPr txBox="1"/>
          <p:nvPr/>
        </p:nvSpPr>
        <p:spPr>
          <a:xfrm>
            <a:off x="762000" y="3762523"/>
            <a:ext cx="1809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2563EB"/>
                </a:solidFill>
                <a:latin typeface="Roboto"/>
                <a:ea typeface="Roboto"/>
                <a:cs typeface="Roboto"/>
                <a:sym typeface="Roboto"/>
              </a:rPr>
              <a:t>→</a:t>
            </a:r>
            <a:endParaRPr/>
          </a:p>
        </p:txBody>
      </p:sp>
      <p:sp>
        <p:nvSpPr>
          <p:cNvPr id="610" name="Google Shape;610;p28"/>
          <p:cNvSpPr txBox="1"/>
          <p:nvPr/>
        </p:nvSpPr>
        <p:spPr>
          <a:xfrm>
            <a:off x="762000" y="4166294"/>
            <a:ext cx="1809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2563EB"/>
                </a:solidFill>
                <a:latin typeface="Roboto"/>
                <a:ea typeface="Roboto"/>
                <a:cs typeface="Roboto"/>
                <a:sym typeface="Roboto"/>
              </a:rPr>
              <a:t>→</a:t>
            </a:r>
            <a:endParaRPr/>
          </a:p>
        </p:txBody>
      </p:sp>
      <p:sp>
        <p:nvSpPr>
          <p:cNvPr id="611" name="Google Shape;611;p28"/>
          <p:cNvSpPr txBox="1"/>
          <p:nvPr/>
        </p:nvSpPr>
        <p:spPr>
          <a:xfrm>
            <a:off x="762000" y="4570065"/>
            <a:ext cx="1809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2563EB"/>
                </a:solidFill>
                <a:latin typeface="Roboto"/>
                <a:ea typeface="Roboto"/>
                <a:cs typeface="Roboto"/>
                <a:sym typeface="Roboto"/>
              </a:rPr>
              <a:t>→</a:t>
            </a:r>
            <a:endParaRPr/>
          </a:p>
        </p:txBody>
      </p:sp>
      <p:sp>
        <p:nvSpPr>
          <p:cNvPr id="612" name="Google Shape;612;p28"/>
          <p:cNvSpPr txBox="1"/>
          <p:nvPr/>
        </p:nvSpPr>
        <p:spPr>
          <a:xfrm>
            <a:off x="762000" y="4973835"/>
            <a:ext cx="1809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2563EB"/>
                </a:solidFill>
                <a:latin typeface="Roboto"/>
                <a:ea typeface="Roboto"/>
                <a:cs typeface="Roboto"/>
                <a:sym typeface="Roboto"/>
              </a:rPr>
              <a:t>→</a:t>
            </a:r>
            <a:endParaRPr/>
          </a:p>
        </p:txBody>
      </p:sp>
      <p:sp>
        <p:nvSpPr>
          <p:cNvPr id="613" name="Google Shape;613;p28"/>
          <p:cNvSpPr txBox="1"/>
          <p:nvPr/>
        </p:nvSpPr>
        <p:spPr>
          <a:xfrm>
            <a:off x="762000" y="5377606"/>
            <a:ext cx="1809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2563EB"/>
                </a:solidFill>
                <a:latin typeface="Roboto"/>
                <a:ea typeface="Roboto"/>
                <a:cs typeface="Roboto"/>
                <a:sym typeface="Roboto"/>
              </a:rPr>
              <a:t>→</a:t>
            </a:r>
            <a:endParaRPr/>
          </a:p>
        </p:txBody>
      </p:sp>
      <p:pic>
        <p:nvPicPr>
          <p:cNvPr descr="image.png" id="614" name="Google Shape;614;p2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28700" y="3805386"/>
            <a:ext cx="20002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615" name="Google Shape;615;p2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28700" y="4209157"/>
            <a:ext cx="16192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616" name="Google Shape;616;p2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028700" y="4612927"/>
            <a:ext cx="18097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617" name="Google Shape;617;p2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028700" y="5016698"/>
            <a:ext cx="18097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618" name="Google Shape;618;p28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028700" y="5420469"/>
            <a:ext cx="161925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619" name="Google Shape;619;p28"/>
          <p:cNvSpPr txBox="1"/>
          <p:nvPr/>
        </p:nvSpPr>
        <p:spPr>
          <a:xfrm>
            <a:off x="762000" y="571500"/>
            <a:ext cx="112014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Engineering Approach</a:t>
            </a:r>
            <a:endParaRPr/>
          </a:p>
        </p:txBody>
      </p:sp>
      <p:sp>
        <p:nvSpPr>
          <p:cNvPr id="620" name="Google Shape;620;p28"/>
          <p:cNvSpPr/>
          <p:nvPr/>
        </p:nvSpPr>
        <p:spPr>
          <a:xfrm>
            <a:off x="762000" y="1200150"/>
            <a:ext cx="10668000" cy="28575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625" name="Google Shape;625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626" name="Google Shape;626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2088951"/>
            <a:ext cx="3365450" cy="371832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627" name="Google Shape;627;p2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413200" y="2088951"/>
            <a:ext cx="3365450" cy="371832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628" name="Google Shape;628;p2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64400" y="2088951"/>
            <a:ext cx="3365450" cy="371832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629" name="Google Shape;629;p2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063650" y="2479476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630" name="Google Shape;630;p29"/>
          <p:cNvSpPr txBox="1"/>
          <p:nvPr/>
        </p:nvSpPr>
        <p:spPr>
          <a:xfrm>
            <a:off x="1704558" y="3479601"/>
            <a:ext cx="1480185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4338C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Operational</a:t>
            </a:r>
            <a:endParaRPr/>
          </a:p>
        </p:txBody>
      </p:sp>
      <p:pic>
        <p:nvPicPr>
          <p:cNvPr descr="image.png" id="631" name="Google Shape;631;p2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14851" y="2479476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632" name="Google Shape;632;p29"/>
          <p:cNvSpPr txBox="1"/>
          <p:nvPr/>
        </p:nvSpPr>
        <p:spPr>
          <a:xfrm>
            <a:off x="5490775" y="3479601"/>
            <a:ext cx="1210151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1D4ED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Technical</a:t>
            </a:r>
            <a:endParaRPr/>
          </a:p>
        </p:txBody>
      </p:sp>
      <p:pic>
        <p:nvPicPr>
          <p:cNvPr descr="image.png" id="633" name="Google Shape;633;p29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366051" y="2479476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634" name="Google Shape;634;p29"/>
          <p:cNvSpPr txBox="1"/>
          <p:nvPr/>
        </p:nvSpPr>
        <p:spPr>
          <a:xfrm>
            <a:off x="9166979" y="3479601"/>
            <a:ext cx="1160145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4D7C0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Business</a:t>
            </a:r>
            <a:endParaRPr/>
          </a:p>
        </p:txBody>
      </p:sp>
      <p:pic>
        <p:nvPicPr>
          <p:cNvPr descr="image.png" id="635" name="Google Shape;635;p29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2311300" y="2708076"/>
            <a:ext cx="2667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636" name="Google Shape;636;p29"/>
          <p:cNvSpPr txBox="1"/>
          <p:nvPr/>
        </p:nvSpPr>
        <p:spPr>
          <a:xfrm>
            <a:off x="1247775" y="4060626"/>
            <a:ext cx="2584400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Much faster incident response</a:t>
            </a:r>
            <a:endParaRPr/>
          </a:p>
        </p:txBody>
      </p:sp>
      <p:sp>
        <p:nvSpPr>
          <p:cNvPr id="637" name="Google Shape;637;p29"/>
          <p:cNvSpPr txBox="1"/>
          <p:nvPr/>
        </p:nvSpPr>
        <p:spPr>
          <a:xfrm>
            <a:off x="1247775" y="4399657"/>
            <a:ext cx="2584400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Reduced manual DBA workload</a:t>
            </a:r>
            <a:endParaRPr/>
          </a:p>
        </p:txBody>
      </p:sp>
      <p:sp>
        <p:nvSpPr>
          <p:cNvPr id="638" name="Google Shape;638;p29"/>
          <p:cNvSpPr txBox="1"/>
          <p:nvPr/>
        </p:nvSpPr>
        <p:spPr>
          <a:xfrm>
            <a:off x="1247775" y="4738687"/>
            <a:ext cx="2584400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Standardized operational flows</a:t>
            </a:r>
            <a:endParaRPr/>
          </a:p>
        </p:txBody>
      </p:sp>
      <p:sp>
        <p:nvSpPr>
          <p:cNvPr id="639" name="Google Shape;639;p29"/>
          <p:cNvSpPr txBox="1"/>
          <p:nvPr/>
        </p:nvSpPr>
        <p:spPr>
          <a:xfrm>
            <a:off x="1247775" y="5077717"/>
            <a:ext cx="2584400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Improved monitoring visibility</a:t>
            </a:r>
            <a:endParaRPr/>
          </a:p>
        </p:txBody>
      </p:sp>
      <p:pic>
        <p:nvPicPr>
          <p:cNvPr descr="image.png" id="640" name="Google Shape;640;p29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5943451" y="2708076"/>
            <a:ext cx="3048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641" name="Google Shape;641;p29"/>
          <p:cNvSpPr txBox="1"/>
          <p:nvPr/>
        </p:nvSpPr>
        <p:spPr>
          <a:xfrm>
            <a:off x="4898975" y="4060626"/>
            <a:ext cx="2584400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AI-assisted troubleshooting</a:t>
            </a:r>
            <a:endParaRPr/>
          </a:p>
        </p:txBody>
      </p:sp>
      <p:sp>
        <p:nvSpPr>
          <p:cNvPr id="642" name="Google Shape;642;p29"/>
          <p:cNvSpPr txBox="1"/>
          <p:nvPr/>
        </p:nvSpPr>
        <p:spPr>
          <a:xfrm>
            <a:off x="4898975" y="4399657"/>
            <a:ext cx="2584400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Vastly better observability</a:t>
            </a:r>
            <a:endParaRPr/>
          </a:p>
        </p:txBody>
      </p:sp>
      <p:sp>
        <p:nvSpPr>
          <p:cNvPr id="643" name="Google Shape;643;p29"/>
          <p:cNvSpPr txBox="1"/>
          <p:nvPr/>
        </p:nvSpPr>
        <p:spPr>
          <a:xfrm>
            <a:off x="4898975" y="4738687"/>
            <a:ext cx="2584400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Centralized operational intel</a:t>
            </a:r>
            <a:endParaRPr/>
          </a:p>
        </p:txBody>
      </p:sp>
      <p:sp>
        <p:nvSpPr>
          <p:cNvPr id="644" name="Google Shape;644;p29"/>
          <p:cNvSpPr txBox="1"/>
          <p:nvPr/>
        </p:nvSpPr>
        <p:spPr>
          <a:xfrm>
            <a:off x="4898975" y="5077717"/>
            <a:ext cx="2584400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Improved database reliability</a:t>
            </a:r>
            <a:endParaRPr/>
          </a:p>
        </p:txBody>
      </p:sp>
      <p:pic>
        <p:nvPicPr>
          <p:cNvPr descr="image.png" id="645" name="Google Shape;645;p29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9575601" y="2708076"/>
            <a:ext cx="3429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646" name="Google Shape;646;p29"/>
          <p:cNvSpPr txBox="1"/>
          <p:nvPr/>
        </p:nvSpPr>
        <p:spPr>
          <a:xfrm>
            <a:off x="8550175" y="4060626"/>
            <a:ext cx="2584400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Reduced overall downtime</a:t>
            </a:r>
            <a:endParaRPr/>
          </a:p>
        </p:txBody>
      </p:sp>
      <p:sp>
        <p:nvSpPr>
          <p:cNvPr id="647" name="Google Shape;647;p29"/>
          <p:cNvSpPr txBox="1"/>
          <p:nvPr/>
        </p:nvSpPr>
        <p:spPr>
          <a:xfrm>
            <a:off x="8550175" y="4399657"/>
            <a:ext cx="2584400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Better SLA compliance</a:t>
            </a:r>
            <a:endParaRPr/>
          </a:p>
        </p:txBody>
      </p:sp>
      <p:sp>
        <p:nvSpPr>
          <p:cNvPr id="648" name="Google Shape;648;p29"/>
          <p:cNvSpPr txBox="1"/>
          <p:nvPr/>
        </p:nvSpPr>
        <p:spPr>
          <a:xfrm>
            <a:off x="8550175" y="4738687"/>
            <a:ext cx="2584400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Improved engineering productivity</a:t>
            </a:r>
            <a:endParaRPr/>
          </a:p>
        </p:txBody>
      </p:sp>
      <p:sp>
        <p:nvSpPr>
          <p:cNvPr id="649" name="Google Shape;649;p29"/>
          <p:cNvSpPr txBox="1"/>
          <p:nvPr/>
        </p:nvSpPr>
        <p:spPr>
          <a:xfrm>
            <a:off x="8550175" y="5077717"/>
            <a:ext cx="2584400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Reduced operational overhead</a:t>
            </a:r>
            <a:endParaRPr/>
          </a:p>
        </p:txBody>
      </p:sp>
      <p:sp>
        <p:nvSpPr>
          <p:cNvPr id="650" name="Google Shape;650;p29"/>
          <p:cNvSpPr txBox="1"/>
          <p:nvPr/>
        </p:nvSpPr>
        <p:spPr>
          <a:xfrm>
            <a:off x="1057275" y="4041576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563EB"/>
                </a:solidFill>
                <a:latin typeface="Roboto"/>
                <a:ea typeface="Roboto"/>
                <a:cs typeface="Roboto"/>
                <a:sym typeface="Roboto"/>
              </a:rPr>
              <a:t>•</a:t>
            </a:r>
            <a:endParaRPr/>
          </a:p>
        </p:txBody>
      </p:sp>
      <p:sp>
        <p:nvSpPr>
          <p:cNvPr id="651" name="Google Shape;651;p29"/>
          <p:cNvSpPr txBox="1"/>
          <p:nvPr/>
        </p:nvSpPr>
        <p:spPr>
          <a:xfrm>
            <a:off x="1057275" y="4380607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563EB"/>
                </a:solidFill>
                <a:latin typeface="Roboto"/>
                <a:ea typeface="Roboto"/>
                <a:cs typeface="Roboto"/>
                <a:sym typeface="Roboto"/>
              </a:rPr>
              <a:t>•</a:t>
            </a:r>
            <a:endParaRPr/>
          </a:p>
        </p:txBody>
      </p:sp>
      <p:sp>
        <p:nvSpPr>
          <p:cNvPr id="652" name="Google Shape;652;p29"/>
          <p:cNvSpPr txBox="1"/>
          <p:nvPr/>
        </p:nvSpPr>
        <p:spPr>
          <a:xfrm>
            <a:off x="1057275" y="4719637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563EB"/>
                </a:solidFill>
                <a:latin typeface="Roboto"/>
                <a:ea typeface="Roboto"/>
                <a:cs typeface="Roboto"/>
                <a:sym typeface="Roboto"/>
              </a:rPr>
              <a:t>•</a:t>
            </a:r>
            <a:endParaRPr/>
          </a:p>
        </p:txBody>
      </p:sp>
      <p:sp>
        <p:nvSpPr>
          <p:cNvPr id="653" name="Google Shape;653;p29"/>
          <p:cNvSpPr txBox="1"/>
          <p:nvPr/>
        </p:nvSpPr>
        <p:spPr>
          <a:xfrm>
            <a:off x="1057275" y="5058667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563EB"/>
                </a:solidFill>
                <a:latin typeface="Roboto"/>
                <a:ea typeface="Roboto"/>
                <a:cs typeface="Roboto"/>
                <a:sym typeface="Roboto"/>
              </a:rPr>
              <a:t>•</a:t>
            </a:r>
            <a:endParaRPr/>
          </a:p>
        </p:txBody>
      </p:sp>
      <p:sp>
        <p:nvSpPr>
          <p:cNvPr id="654" name="Google Shape;654;p29"/>
          <p:cNvSpPr txBox="1"/>
          <p:nvPr/>
        </p:nvSpPr>
        <p:spPr>
          <a:xfrm>
            <a:off x="4708475" y="4041576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563EB"/>
                </a:solidFill>
                <a:latin typeface="Roboto"/>
                <a:ea typeface="Roboto"/>
                <a:cs typeface="Roboto"/>
                <a:sym typeface="Roboto"/>
              </a:rPr>
              <a:t>•</a:t>
            </a:r>
            <a:endParaRPr/>
          </a:p>
        </p:txBody>
      </p:sp>
      <p:sp>
        <p:nvSpPr>
          <p:cNvPr id="655" name="Google Shape;655;p29"/>
          <p:cNvSpPr txBox="1"/>
          <p:nvPr/>
        </p:nvSpPr>
        <p:spPr>
          <a:xfrm>
            <a:off x="4708475" y="4380607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563EB"/>
                </a:solidFill>
                <a:latin typeface="Roboto"/>
                <a:ea typeface="Roboto"/>
                <a:cs typeface="Roboto"/>
                <a:sym typeface="Roboto"/>
              </a:rPr>
              <a:t>•</a:t>
            </a:r>
            <a:endParaRPr/>
          </a:p>
        </p:txBody>
      </p:sp>
      <p:sp>
        <p:nvSpPr>
          <p:cNvPr id="656" name="Google Shape;656;p29"/>
          <p:cNvSpPr txBox="1"/>
          <p:nvPr/>
        </p:nvSpPr>
        <p:spPr>
          <a:xfrm>
            <a:off x="4708475" y="4719637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563EB"/>
                </a:solidFill>
                <a:latin typeface="Roboto"/>
                <a:ea typeface="Roboto"/>
                <a:cs typeface="Roboto"/>
                <a:sym typeface="Roboto"/>
              </a:rPr>
              <a:t>•</a:t>
            </a:r>
            <a:endParaRPr/>
          </a:p>
        </p:txBody>
      </p:sp>
      <p:sp>
        <p:nvSpPr>
          <p:cNvPr id="657" name="Google Shape;657;p29"/>
          <p:cNvSpPr txBox="1"/>
          <p:nvPr/>
        </p:nvSpPr>
        <p:spPr>
          <a:xfrm>
            <a:off x="4708475" y="5058667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563EB"/>
                </a:solidFill>
                <a:latin typeface="Roboto"/>
                <a:ea typeface="Roboto"/>
                <a:cs typeface="Roboto"/>
                <a:sym typeface="Roboto"/>
              </a:rPr>
              <a:t>•</a:t>
            </a:r>
            <a:endParaRPr/>
          </a:p>
        </p:txBody>
      </p:sp>
      <p:sp>
        <p:nvSpPr>
          <p:cNvPr id="658" name="Google Shape;658;p29"/>
          <p:cNvSpPr txBox="1"/>
          <p:nvPr/>
        </p:nvSpPr>
        <p:spPr>
          <a:xfrm>
            <a:off x="8359675" y="4041576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563EB"/>
                </a:solidFill>
                <a:latin typeface="Roboto"/>
                <a:ea typeface="Roboto"/>
                <a:cs typeface="Roboto"/>
                <a:sym typeface="Roboto"/>
              </a:rPr>
              <a:t>•</a:t>
            </a:r>
            <a:endParaRPr/>
          </a:p>
        </p:txBody>
      </p:sp>
      <p:sp>
        <p:nvSpPr>
          <p:cNvPr id="659" name="Google Shape;659;p29"/>
          <p:cNvSpPr txBox="1"/>
          <p:nvPr/>
        </p:nvSpPr>
        <p:spPr>
          <a:xfrm>
            <a:off x="8359675" y="4380607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563EB"/>
                </a:solidFill>
                <a:latin typeface="Roboto"/>
                <a:ea typeface="Roboto"/>
                <a:cs typeface="Roboto"/>
                <a:sym typeface="Roboto"/>
              </a:rPr>
              <a:t>•</a:t>
            </a:r>
            <a:endParaRPr/>
          </a:p>
        </p:txBody>
      </p:sp>
      <p:sp>
        <p:nvSpPr>
          <p:cNvPr id="660" name="Google Shape;660;p29"/>
          <p:cNvSpPr txBox="1"/>
          <p:nvPr/>
        </p:nvSpPr>
        <p:spPr>
          <a:xfrm>
            <a:off x="8359675" y="4719637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563EB"/>
                </a:solidFill>
                <a:latin typeface="Roboto"/>
                <a:ea typeface="Roboto"/>
                <a:cs typeface="Roboto"/>
                <a:sym typeface="Roboto"/>
              </a:rPr>
              <a:t>•</a:t>
            </a:r>
            <a:endParaRPr/>
          </a:p>
        </p:txBody>
      </p:sp>
      <p:sp>
        <p:nvSpPr>
          <p:cNvPr id="661" name="Google Shape;661;p29"/>
          <p:cNvSpPr txBox="1"/>
          <p:nvPr/>
        </p:nvSpPr>
        <p:spPr>
          <a:xfrm>
            <a:off x="8359675" y="5058667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563EB"/>
                </a:solidFill>
                <a:latin typeface="Roboto"/>
                <a:ea typeface="Roboto"/>
                <a:cs typeface="Roboto"/>
                <a:sym typeface="Roboto"/>
              </a:rPr>
              <a:t>•</a:t>
            </a:r>
            <a:endParaRPr/>
          </a:p>
        </p:txBody>
      </p:sp>
      <p:sp>
        <p:nvSpPr>
          <p:cNvPr id="662" name="Google Shape;662;p29"/>
          <p:cNvSpPr txBox="1"/>
          <p:nvPr/>
        </p:nvSpPr>
        <p:spPr>
          <a:xfrm>
            <a:off x="762000" y="571500"/>
            <a:ext cx="112014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Business Benefits</a:t>
            </a:r>
            <a:endParaRPr/>
          </a:p>
        </p:txBody>
      </p:sp>
      <p:sp>
        <p:nvSpPr>
          <p:cNvPr id="663" name="Google Shape;663;p29"/>
          <p:cNvSpPr/>
          <p:nvPr/>
        </p:nvSpPr>
        <p:spPr>
          <a:xfrm>
            <a:off x="762000" y="1200150"/>
            <a:ext cx="10668000" cy="28575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667" name="Shape 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668" name="Google Shape;668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669" name="Google Shape;669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97235" y="2400300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670" name="Google Shape;670;p3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000" y="3067050"/>
            <a:ext cx="2346870" cy="2571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671" name="Google Shape;671;p3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470945" y="2400300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672" name="Google Shape;672;p3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535709" y="3067050"/>
            <a:ext cx="2346870" cy="3000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673" name="Google Shape;673;p3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244655" y="2400300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674" name="Google Shape;674;p3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309419" y="3067050"/>
            <a:ext cx="2346870" cy="2085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675" name="Google Shape;675;p30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0018365" y="2400300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676" name="Google Shape;676;p30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9083129" y="3067050"/>
            <a:ext cx="2346870" cy="2771775"/>
          </a:xfrm>
          <a:prstGeom prst="rect">
            <a:avLst/>
          </a:prstGeom>
          <a:noFill/>
          <a:ln>
            <a:noFill/>
          </a:ln>
        </p:spPr>
      </p:pic>
      <p:sp>
        <p:nvSpPr>
          <p:cNvPr id="677" name="Google Shape;677;p30"/>
          <p:cNvSpPr/>
          <p:nvPr/>
        </p:nvSpPr>
        <p:spPr>
          <a:xfrm>
            <a:off x="1295400" y="2638425"/>
            <a:ext cx="9601200" cy="381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8" name="Google Shape;678;p30"/>
          <p:cNvSpPr txBox="1"/>
          <p:nvPr/>
        </p:nvSpPr>
        <p:spPr>
          <a:xfrm>
            <a:off x="963360" y="3343275"/>
            <a:ext cx="1944149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Foundation</a:t>
            </a:r>
            <a:endParaRPr/>
          </a:p>
        </p:txBody>
      </p:sp>
      <p:sp>
        <p:nvSpPr>
          <p:cNvPr id="679" name="Google Shape;679;p30"/>
          <p:cNvSpPr txBox="1"/>
          <p:nvPr/>
        </p:nvSpPr>
        <p:spPr>
          <a:xfrm>
            <a:off x="3737070" y="3314700"/>
            <a:ext cx="1944149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AI &amp; Monitoring</a:t>
            </a:r>
            <a:endParaRPr/>
          </a:p>
        </p:txBody>
      </p:sp>
      <p:sp>
        <p:nvSpPr>
          <p:cNvPr id="680" name="Google Shape;680;p30"/>
          <p:cNvSpPr txBox="1"/>
          <p:nvPr/>
        </p:nvSpPr>
        <p:spPr>
          <a:xfrm>
            <a:off x="6510780" y="3314700"/>
            <a:ext cx="1944149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Governance</a:t>
            </a:r>
            <a:endParaRPr/>
          </a:p>
        </p:txBody>
      </p:sp>
      <p:sp>
        <p:nvSpPr>
          <p:cNvPr id="681" name="Google Shape;681;p30"/>
          <p:cNvSpPr txBox="1"/>
          <p:nvPr/>
        </p:nvSpPr>
        <p:spPr>
          <a:xfrm>
            <a:off x="9284490" y="3314700"/>
            <a:ext cx="1944149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Optimization</a:t>
            </a:r>
            <a:endParaRPr/>
          </a:p>
        </p:txBody>
      </p:sp>
      <p:sp>
        <p:nvSpPr>
          <p:cNvPr id="682" name="Google Shape;682;p30"/>
          <p:cNvSpPr txBox="1"/>
          <p:nvPr/>
        </p:nvSpPr>
        <p:spPr>
          <a:xfrm>
            <a:off x="1152525" y="3714750"/>
            <a:ext cx="476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•</a:t>
            </a:r>
            <a:endParaRPr/>
          </a:p>
        </p:txBody>
      </p:sp>
      <p:sp>
        <p:nvSpPr>
          <p:cNvPr id="683" name="Google Shape;683;p30"/>
          <p:cNvSpPr txBox="1"/>
          <p:nvPr/>
        </p:nvSpPr>
        <p:spPr>
          <a:xfrm>
            <a:off x="1200150" y="3714750"/>
            <a:ext cx="166107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762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Project documentation</a:t>
            </a:r>
            <a:endParaRPr/>
          </a:p>
        </p:txBody>
      </p:sp>
      <p:sp>
        <p:nvSpPr>
          <p:cNvPr id="684" name="Google Shape;684;p30"/>
          <p:cNvSpPr txBox="1"/>
          <p:nvPr/>
        </p:nvSpPr>
        <p:spPr>
          <a:xfrm>
            <a:off x="1152525" y="4019550"/>
            <a:ext cx="476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•</a:t>
            </a:r>
            <a:endParaRPr/>
          </a:p>
        </p:txBody>
      </p:sp>
      <p:sp>
        <p:nvSpPr>
          <p:cNvPr id="685" name="Google Shape;685;p30"/>
          <p:cNvSpPr txBox="1"/>
          <p:nvPr/>
        </p:nvSpPr>
        <p:spPr>
          <a:xfrm>
            <a:off x="1200150" y="4019550"/>
            <a:ext cx="166107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762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Architecture finalization</a:t>
            </a:r>
            <a:endParaRPr/>
          </a:p>
        </p:txBody>
      </p:sp>
      <p:sp>
        <p:nvSpPr>
          <p:cNvPr id="686" name="Google Shape;686;p30"/>
          <p:cNvSpPr txBox="1"/>
          <p:nvPr/>
        </p:nvSpPr>
        <p:spPr>
          <a:xfrm>
            <a:off x="1152525" y="4324350"/>
            <a:ext cx="476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•</a:t>
            </a:r>
            <a:endParaRPr/>
          </a:p>
        </p:txBody>
      </p:sp>
      <p:sp>
        <p:nvSpPr>
          <p:cNvPr id="687" name="Google Shape;687;p30"/>
          <p:cNvSpPr txBox="1"/>
          <p:nvPr/>
        </p:nvSpPr>
        <p:spPr>
          <a:xfrm>
            <a:off x="1200150" y="4324350"/>
            <a:ext cx="166107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762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Monitoring framework setup</a:t>
            </a:r>
            <a:endParaRPr/>
          </a:p>
        </p:txBody>
      </p:sp>
      <p:sp>
        <p:nvSpPr>
          <p:cNvPr id="688" name="Google Shape;688;p30"/>
          <p:cNvSpPr txBox="1"/>
          <p:nvPr/>
        </p:nvSpPr>
        <p:spPr>
          <a:xfrm>
            <a:off x="1152525" y="4857750"/>
            <a:ext cx="476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•</a:t>
            </a:r>
            <a:endParaRPr/>
          </a:p>
        </p:txBody>
      </p:sp>
      <p:sp>
        <p:nvSpPr>
          <p:cNvPr id="689" name="Google Shape;689;p30"/>
          <p:cNvSpPr txBox="1"/>
          <p:nvPr/>
        </p:nvSpPr>
        <p:spPr>
          <a:xfrm>
            <a:off x="1200150" y="4857750"/>
            <a:ext cx="166107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762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MCP architecture planning</a:t>
            </a:r>
            <a:endParaRPr/>
          </a:p>
        </p:txBody>
      </p:sp>
      <p:sp>
        <p:nvSpPr>
          <p:cNvPr id="690" name="Google Shape;690;p30"/>
          <p:cNvSpPr txBox="1"/>
          <p:nvPr/>
        </p:nvSpPr>
        <p:spPr>
          <a:xfrm>
            <a:off x="3926234" y="3686175"/>
            <a:ext cx="476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•</a:t>
            </a:r>
            <a:endParaRPr/>
          </a:p>
        </p:txBody>
      </p:sp>
      <p:sp>
        <p:nvSpPr>
          <p:cNvPr id="691" name="Google Shape;691;p30"/>
          <p:cNvSpPr txBox="1"/>
          <p:nvPr/>
        </p:nvSpPr>
        <p:spPr>
          <a:xfrm>
            <a:off x="3973859" y="3686175"/>
            <a:ext cx="166107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762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AI DB Agent implementation</a:t>
            </a:r>
            <a:endParaRPr/>
          </a:p>
        </p:txBody>
      </p:sp>
      <p:sp>
        <p:nvSpPr>
          <p:cNvPr id="692" name="Google Shape;692;p30"/>
          <p:cNvSpPr txBox="1"/>
          <p:nvPr/>
        </p:nvSpPr>
        <p:spPr>
          <a:xfrm>
            <a:off x="3926234" y="4219575"/>
            <a:ext cx="476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•</a:t>
            </a:r>
            <a:endParaRPr/>
          </a:p>
        </p:txBody>
      </p:sp>
      <p:sp>
        <p:nvSpPr>
          <p:cNvPr id="693" name="Google Shape;693;p30"/>
          <p:cNvSpPr txBox="1"/>
          <p:nvPr/>
        </p:nvSpPr>
        <p:spPr>
          <a:xfrm>
            <a:off x="3973859" y="4219575"/>
            <a:ext cx="166107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762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OpenRouter/OpenAI linking</a:t>
            </a:r>
            <a:endParaRPr/>
          </a:p>
        </p:txBody>
      </p:sp>
      <p:sp>
        <p:nvSpPr>
          <p:cNvPr id="694" name="Google Shape;694;p30"/>
          <p:cNvSpPr txBox="1"/>
          <p:nvPr/>
        </p:nvSpPr>
        <p:spPr>
          <a:xfrm>
            <a:off x="3926234" y="4752975"/>
            <a:ext cx="476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•</a:t>
            </a:r>
            <a:endParaRPr/>
          </a:p>
        </p:txBody>
      </p:sp>
      <p:sp>
        <p:nvSpPr>
          <p:cNvPr id="695" name="Google Shape;695;p30"/>
          <p:cNvSpPr txBox="1"/>
          <p:nvPr/>
        </p:nvSpPr>
        <p:spPr>
          <a:xfrm>
            <a:off x="3973859" y="4752975"/>
            <a:ext cx="166107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762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Monitoring collectors build</a:t>
            </a:r>
            <a:endParaRPr/>
          </a:p>
        </p:txBody>
      </p:sp>
      <p:sp>
        <p:nvSpPr>
          <p:cNvPr id="696" name="Google Shape;696;p30"/>
          <p:cNvSpPr txBox="1"/>
          <p:nvPr/>
        </p:nvSpPr>
        <p:spPr>
          <a:xfrm>
            <a:off x="3926234" y="5286375"/>
            <a:ext cx="476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•</a:t>
            </a:r>
            <a:endParaRPr/>
          </a:p>
        </p:txBody>
      </p:sp>
      <p:sp>
        <p:nvSpPr>
          <p:cNvPr id="697" name="Google Shape;697;p30"/>
          <p:cNvSpPr txBox="1"/>
          <p:nvPr/>
        </p:nvSpPr>
        <p:spPr>
          <a:xfrm>
            <a:off x="3973859" y="5286375"/>
            <a:ext cx="166107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762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Incident analysis workflows</a:t>
            </a:r>
            <a:endParaRPr/>
          </a:p>
        </p:txBody>
      </p:sp>
      <p:sp>
        <p:nvSpPr>
          <p:cNvPr id="698" name="Google Shape;698;p30"/>
          <p:cNvSpPr txBox="1"/>
          <p:nvPr/>
        </p:nvSpPr>
        <p:spPr>
          <a:xfrm>
            <a:off x="6699944" y="3686175"/>
            <a:ext cx="476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•</a:t>
            </a:r>
            <a:endParaRPr/>
          </a:p>
        </p:txBody>
      </p:sp>
      <p:sp>
        <p:nvSpPr>
          <p:cNvPr id="699" name="Google Shape;699;p30"/>
          <p:cNvSpPr txBox="1"/>
          <p:nvPr/>
        </p:nvSpPr>
        <p:spPr>
          <a:xfrm>
            <a:off x="6747569" y="3686175"/>
            <a:ext cx="166107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762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Human-in-loop approvals</a:t>
            </a:r>
            <a:endParaRPr/>
          </a:p>
        </p:txBody>
      </p:sp>
      <p:sp>
        <p:nvSpPr>
          <p:cNvPr id="700" name="Google Shape;700;p30"/>
          <p:cNvSpPr txBox="1"/>
          <p:nvPr/>
        </p:nvSpPr>
        <p:spPr>
          <a:xfrm>
            <a:off x="6699944" y="3990975"/>
            <a:ext cx="476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•</a:t>
            </a:r>
            <a:endParaRPr/>
          </a:p>
        </p:txBody>
      </p:sp>
      <p:sp>
        <p:nvSpPr>
          <p:cNvPr id="701" name="Google Shape;701;p30"/>
          <p:cNvSpPr txBox="1"/>
          <p:nvPr/>
        </p:nvSpPr>
        <p:spPr>
          <a:xfrm>
            <a:off x="6747569" y="3990975"/>
            <a:ext cx="166107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762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Audit logging mechanism</a:t>
            </a:r>
            <a:endParaRPr/>
          </a:p>
        </p:txBody>
      </p:sp>
      <p:sp>
        <p:nvSpPr>
          <p:cNvPr id="702" name="Google Shape;702;p30"/>
          <p:cNvSpPr txBox="1"/>
          <p:nvPr/>
        </p:nvSpPr>
        <p:spPr>
          <a:xfrm>
            <a:off x="6699944" y="4295775"/>
            <a:ext cx="476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•</a:t>
            </a:r>
            <a:endParaRPr/>
          </a:p>
        </p:txBody>
      </p:sp>
      <p:sp>
        <p:nvSpPr>
          <p:cNvPr id="703" name="Google Shape;703;p30"/>
          <p:cNvSpPr txBox="1"/>
          <p:nvPr/>
        </p:nvSpPr>
        <p:spPr>
          <a:xfrm>
            <a:off x="6747569" y="4295775"/>
            <a:ext cx="166107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762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Smart alerting system</a:t>
            </a:r>
            <a:endParaRPr/>
          </a:p>
        </p:txBody>
      </p:sp>
      <p:sp>
        <p:nvSpPr>
          <p:cNvPr id="704" name="Google Shape;704;p30"/>
          <p:cNvSpPr txBox="1"/>
          <p:nvPr/>
        </p:nvSpPr>
        <p:spPr>
          <a:xfrm>
            <a:off x="6699944" y="4600575"/>
            <a:ext cx="476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•</a:t>
            </a:r>
            <a:endParaRPr/>
          </a:p>
        </p:txBody>
      </p:sp>
      <p:sp>
        <p:nvSpPr>
          <p:cNvPr id="705" name="Google Shape;705;p30"/>
          <p:cNvSpPr txBox="1"/>
          <p:nvPr/>
        </p:nvSpPr>
        <p:spPr>
          <a:xfrm>
            <a:off x="6747569" y="4600575"/>
            <a:ext cx="166107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762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Automated reporting gen</a:t>
            </a:r>
            <a:endParaRPr/>
          </a:p>
        </p:txBody>
      </p:sp>
      <p:sp>
        <p:nvSpPr>
          <p:cNvPr id="706" name="Google Shape;706;p30"/>
          <p:cNvSpPr txBox="1"/>
          <p:nvPr/>
        </p:nvSpPr>
        <p:spPr>
          <a:xfrm>
            <a:off x="9473654" y="3686175"/>
            <a:ext cx="476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•</a:t>
            </a:r>
            <a:endParaRPr/>
          </a:p>
        </p:txBody>
      </p:sp>
      <p:sp>
        <p:nvSpPr>
          <p:cNvPr id="707" name="Google Shape;707;p30"/>
          <p:cNvSpPr txBox="1"/>
          <p:nvPr/>
        </p:nvSpPr>
        <p:spPr>
          <a:xfrm>
            <a:off x="9521279" y="3686175"/>
            <a:ext cx="166107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762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Predictive analytics models</a:t>
            </a:r>
            <a:endParaRPr/>
          </a:p>
        </p:txBody>
      </p:sp>
      <p:sp>
        <p:nvSpPr>
          <p:cNvPr id="708" name="Google Shape;708;p30"/>
          <p:cNvSpPr txBox="1"/>
          <p:nvPr/>
        </p:nvSpPr>
        <p:spPr>
          <a:xfrm>
            <a:off x="9473654" y="4219575"/>
            <a:ext cx="476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•</a:t>
            </a:r>
            <a:endParaRPr/>
          </a:p>
        </p:txBody>
      </p:sp>
      <p:sp>
        <p:nvSpPr>
          <p:cNvPr id="709" name="Google Shape;709;p30"/>
          <p:cNvSpPr txBox="1"/>
          <p:nvPr/>
        </p:nvSpPr>
        <p:spPr>
          <a:xfrm>
            <a:off x="9521279" y="4219575"/>
            <a:ext cx="166107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762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Power BI dashboards</a:t>
            </a:r>
            <a:endParaRPr/>
          </a:p>
        </p:txBody>
      </p:sp>
      <p:sp>
        <p:nvSpPr>
          <p:cNvPr id="710" name="Google Shape;710;p30"/>
          <p:cNvSpPr txBox="1"/>
          <p:nvPr/>
        </p:nvSpPr>
        <p:spPr>
          <a:xfrm>
            <a:off x="9473654" y="4524375"/>
            <a:ext cx="476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•</a:t>
            </a:r>
            <a:endParaRPr/>
          </a:p>
        </p:txBody>
      </p:sp>
      <p:sp>
        <p:nvSpPr>
          <p:cNvPr id="711" name="Google Shape;711;p30"/>
          <p:cNvSpPr txBox="1"/>
          <p:nvPr/>
        </p:nvSpPr>
        <p:spPr>
          <a:xfrm>
            <a:off x="9521279" y="4524375"/>
            <a:ext cx="166107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762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ServiceNow/Jira integration</a:t>
            </a:r>
            <a:endParaRPr/>
          </a:p>
        </p:txBody>
      </p:sp>
      <p:sp>
        <p:nvSpPr>
          <p:cNvPr id="712" name="Google Shape;712;p30"/>
          <p:cNvSpPr txBox="1"/>
          <p:nvPr/>
        </p:nvSpPr>
        <p:spPr>
          <a:xfrm>
            <a:off x="9473654" y="5057775"/>
            <a:ext cx="476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•</a:t>
            </a:r>
            <a:endParaRPr/>
          </a:p>
        </p:txBody>
      </p:sp>
      <p:sp>
        <p:nvSpPr>
          <p:cNvPr id="713" name="Google Shape;713;p30"/>
          <p:cNvSpPr txBox="1"/>
          <p:nvPr/>
        </p:nvSpPr>
        <p:spPr>
          <a:xfrm>
            <a:off x="9521279" y="5057775"/>
            <a:ext cx="166107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762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Advanced anomaly detection</a:t>
            </a:r>
            <a:endParaRPr/>
          </a:p>
        </p:txBody>
      </p:sp>
      <p:sp>
        <p:nvSpPr>
          <p:cNvPr id="714" name="Google Shape;714;p30"/>
          <p:cNvSpPr txBox="1"/>
          <p:nvPr/>
        </p:nvSpPr>
        <p:spPr>
          <a:xfrm>
            <a:off x="762000" y="571500"/>
            <a:ext cx="112014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Project Roadmap</a:t>
            </a:r>
            <a:endParaRPr/>
          </a:p>
        </p:txBody>
      </p:sp>
      <p:sp>
        <p:nvSpPr>
          <p:cNvPr id="715" name="Google Shape;715;p30"/>
          <p:cNvSpPr/>
          <p:nvPr/>
        </p:nvSpPr>
        <p:spPr>
          <a:xfrm>
            <a:off x="762000" y="1200150"/>
            <a:ext cx="10668000" cy="28575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719" name="Shape 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720" name="Google Shape;720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721" name="Google Shape;721;p31"/>
          <p:cNvSpPr txBox="1"/>
          <p:nvPr/>
        </p:nvSpPr>
        <p:spPr>
          <a:xfrm>
            <a:off x="762000" y="1154757"/>
            <a:ext cx="48006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Future Enhancements</a:t>
            </a:r>
            <a:endParaRPr/>
          </a:p>
        </p:txBody>
      </p:sp>
      <p:sp>
        <p:nvSpPr>
          <p:cNvPr id="722" name="Google Shape;722;p31"/>
          <p:cNvSpPr/>
          <p:nvPr/>
        </p:nvSpPr>
        <p:spPr>
          <a:xfrm>
            <a:off x="762000" y="1783407"/>
            <a:ext cx="4572000" cy="28575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723" name="Google Shape;723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724" name="Google Shape;724;p31"/>
          <p:cNvSpPr txBox="1"/>
          <p:nvPr/>
        </p:nvSpPr>
        <p:spPr>
          <a:xfrm>
            <a:off x="762000" y="2383482"/>
            <a:ext cx="4572000" cy="5789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Looking beyond the core implementation, the platform is designed to evolve into a fully autonomous system.</a:t>
            </a:r>
            <a:endParaRPr/>
          </a:p>
        </p:txBody>
      </p:sp>
      <p:sp>
        <p:nvSpPr>
          <p:cNvPr id="725" name="Google Shape;725;p31"/>
          <p:cNvSpPr txBox="1"/>
          <p:nvPr/>
        </p:nvSpPr>
        <p:spPr>
          <a:xfrm>
            <a:off x="762000" y="3105298"/>
            <a:ext cx="4572000" cy="289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57175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Autonomous, zero-touch remediation</a:t>
            </a:r>
            <a:endParaRPr/>
          </a:p>
        </p:txBody>
      </p:sp>
      <p:sp>
        <p:nvSpPr>
          <p:cNvPr id="726" name="Google Shape;726;p31"/>
          <p:cNvSpPr txBox="1"/>
          <p:nvPr/>
        </p:nvSpPr>
        <p:spPr>
          <a:xfrm>
            <a:off x="762000" y="3490019"/>
            <a:ext cx="4572000" cy="289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57175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Predictive operational analytics</a:t>
            </a:r>
            <a:endParaRPr/>
          </a:p>
        </p:txBody>
      </p:sp>
      <p:sp>
        <p:nvSpPr>
          <p:cNvPr id="727" name="Google Shape;727;p31"/>
          <p:cNvSpPr txBox="1"/>
          <p:nvPr/>
        </p:nvSpPr>
        <p:spPr>
          <a:xfrm>
            <a:off x="762000" y="3874740"/>
            <a:ext cx="4572000" cy="5789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57175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Multi-database platform support (PostgreSQL/Oracle)</a:t>
            </a:r>
            <a:endParaRPr/>
          </a:p>
        </p:txBody>
      </p:sp>
      <p:sp>
        <p:nvSpPr>
          <p:cNvPr id="728" name="Google Shape;728;p31"/>
          <p:cNvSpPr txBox="1"/>
          <p:nvPr/>
        </p:nvSpPr>
        <p:spPr>
          <a:xfrm>
            <a:off x="762000" y="4548931"/>
            <a:ext cx="4572000" cy="289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57175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Deep Kubernetes integration</a:t>
            </a:r>
            <a:endParaRPr/>
          </a:p>
        </p:txBody>
      </p:sp>
      <p:sp>
        <p:nvSpPr>
          <p:cNvPr id="729" name="Google Shape;729;p31"/>
          <p:cNvSpPr txBox="1"/>
          <p:nvPr/>
        </p:nvSpPr>
        <p:spPr>
          <a:xfrm>
            <a:off x="762000" y="4933652"/>
            <a:ext cx="4572000" cy="289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57175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Live Power BI dashboards</a:t>
            </a:r>
            <a:endParaRPr/>
          </a:p>
        </p:txBody>
      </p:sp>
      <p:sp>
        <p:nvSpPr>
          <p:cNvPr id="730" name="Google Shape;730;p31"/>
          <p:cNvSpPr txBox="1"/>
          <p:nvPr/>
        </p:nvSpPr>
        <p:spPr>
          <a:xfrm>
            <a:off x="762000" y="5318373"/>
            <a:ext cx="4572000" cy="289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57175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AI-powered anomaly prediction</a:t>
            </a:r>
            <a:endParaRPr/>
          </a:p>
        </p:txBody>
      </p:sp>
      <p:pic>
        <p:nvPicPr>
          <p:cNvPr descr="image.png" id="731" name="Google Shape;731;p3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000" y="3148161"/>
            <a:ext cx="16192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732" name="Google Shape;732;p3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000" y="3532882"/>
            <a:ext cx="16192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733" name="Google Shape;733;p3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000" y="3917602"/>
            <a:ext cx="16192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734" name="Google Shape;734;p3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000" y="4591794"/>
            <a:ext cx="16192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735" name="Google Shape;735;p3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000" y="4976514"/>
            <a:ext cx="16192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736" name="Google Shape;736;p3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000" y="5361235"/>
            <a:ext cx="161925" cy="190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740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741" name="Google Shape;741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742" name="Google Shape;742;p32"/>
          <p:cNvSpPr/>
          <p:nvPr/>
        </p:nvSpPr>
        <p:spPr>
          <a:xfrm>
            <a:off x="5524500" y="1692771"/>
            <a:ext cx="1143000" cy="5715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3" name="Google Shape;743;p32"/>
          <p:cNvSpPr txBox="1"/>
          <p:nvPr/>
        </p:nvSpPr>
        <p:spPr>
          <a:xfrm>
            <a:off x="4330779" y="2130921"/>
            <a:ext cx="3530441" cy="733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Conclusion</a:t>
            </a:r>
            <a:endParaRPr/>
          </a:p>
        </p:txBody>
      </p:sp>
      <p:sp>
        <p:nvSpPr>
          <p:cNvPr id="744" name="Google Shape;744;p32"/>
          <p:cNvSpPr txBox="1"/>
          <p:nvPr/>
        </p:nvSpPr>
        <p:spPr>
          <a:xfrm>
            <a:off x="2286000" y="3435846"/>
            <a:ext cx="7620000" cy="10054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The </a:t>
            </a:r>
            <a:r>
              <a:rPr b="1" i="0" lang="en-US" sz="1650" u="none" cap="none" strike="noStrik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Autonomous AI DBA Operations Platform</a:t>
            </a:r>
            <a:r>
              <a:rPr b="0" i="0" lang="en-US" sz="1650" u="none" cap="none" strike="noStrik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 is designed as an enterprise-focused, AI-assisted operational intelligence system for SQL Server reliability engineering.</a:t>
            </a:r>
            <a:endParaRPr/>
          </a:p>
        </p:txBody>
      </p:sp>
      <p:sp>
        <p:nvSpPr>
          <p:cNvPr id="745" name="Google Shape;745;p32"/>
          <p:cNvSpPr txBox="1"/>
          <p:nvPr/>
        </p:nvSpPr>
        <p:spPr>
          <a:xfrm>
            <a:off x="1809750" y="4631828"/>
            <a:ext cx="85725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By combining AI-powered analysis, intelligent monitoring, strict governance workflows, and centralized reporting, it dramatically improves database reliability, boosts operational efficiency, and enables proactive incident management at scale.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749" name="Shape 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750" name="Google Shape;750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751" name="Google Shape;751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324225" y="3949005"/>
            <a:ext cx="5543550" cy="1695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752" name="Google Shape;752;p3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714750" y="5015805"/>
            <a:ext cx="4762500" cy="428625"/>
          </a:xfrm>
          <a:prstGeom prst="rect">
            <a:avLst/>
          </a:prstGeom>
          <a:noFill/>
          <a:ln>
            <a:noFill/>
          </a:ln>
        </p:spPr>
      </p:pic>
      <p:sp>
        <p:nvSpPr>
          <p:cNvPr id="753" name="Google Shape;753;p33"/>
          <p:cNvSpPr txBox="1"/>
          <p:nvPr/>
        </p:nvSpPr>
        <p:spPr>
          <a:xfrm>
            <a:off x="3425666" y="1213544"/>
            <a:ext cx="5340667" cy="11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2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Questions?</a:t>
            </a:r>
            <a:endParaRPr/>
          </a:p>
        </p:txBody>
      </p:sp>
      <p:sp>
        <p:nvSpPr>
          <p:cNvPr id="754" name="Google Shape;754;p33"/>
          <p:cNvSpPr txBox="1"/>
          <p:nvPr/>
        </p:nvSpPr>
        <p:spPr>
          <a:xfrm>
            <a:off x="3486150" y="2508944"/>
            <a:ext cx="5219700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2563EB"/>
                </a:solidFill>
                <a:latin typeface="Roboto Medium"/>
                <a:ea typeface="Roboto Medium"/>
                <a:cs typeface="Roboto Medium"/>
                <a:sym typeface="Roboto Medium"/>
              </a:rPr>
              <a:t>Thank you for your time and attention.</a:t>
            </a:r>
            <a:endParaRPr/>
          </a:p>
        </p:txBody>
      </p:sp>
      <p:sp>
        <p:nvSpPr>
          <p:cNvPr id="755" name="Google Shape;755;p33"/>
          <p:cNvSpPr txBox="1"/>
          <p:nvPr/>
        </p:nvSpPr>
        <p:spPr>
          <a:xfrm>
            <a:off x="3971925" y="4149030"/>
            <a:ext cx="42481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Autonomous AI DBA Operations Platform</a:t>
            </a:r>
            <a:endParaRPr/>
          </a:p>
        </p:txBody>
      </p:sp>
      <p:sp>
        <p:nvSpPr>
          <p:cNvPr id="756" name="Google Shape;756;p33"/>
          <p:cNvSpPr txBox="1"/>
          <p:nvPr/>
        </p:nvSpPr>
        <p:spPr>
          <a:xfrm>
            <a:off x="3714750" y="4510980"/>
            <a:ext cx="47625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64748B"/>
                </a:solidFill>
                <a:latin typeface="Roboto"/>
                <a:ea typeface="Roboto"/>
                <a:cs typeface="Roboto"/>
                <a:sym typeface="Roboto"/>
              </a:rPr>
              <a:t>AI-Powered Database Reliability &amp; Incident Automation System</a:t>
            </a:r>
            <a:endParaRPr/>
          </a:p>
        </p:txBody>
      </p:sp>
      <p:sp>
        <p:nvSpPr>
          <p:cNvPr id="757" name="Google Shape;757;p33"/>
          <p:cNvSpPr txBox="1"/>
          <p:nvPr/>
        </p:nvSpPr>
        <p:spPr>
          <a:xfrm>
            <a:off x="6143625" y="5215830"/>
            <a:ext cx="11239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Shami Gaffar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761" name="Shape 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762" name="Google Shape;762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763" name="Google Shape;763;p34"/>
          <p:cNvSpPr/>
          <p:nvPr/>
        </p:nvSpPr>
        <p:spPr>
          <a:xfrm>
            <a:off x="762000" y="2284214"/>
            <a:ext cx="1066800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4" name="Google Shape;764;p34"/>
          <p:cNvSpPr/>
          <p:nvPr/>
        </p:nvSpPr>
        <p:spPr>
          <a:xfrm>
            <a:off x="762000" y="3068984"/>
            <a:ext cx="1066800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5" name="Google Shape;765;p34"/>
          <p:cNvSpPr/>
          <p:nvPr/>
        </p:nvSpPr>
        <p:spPr>
          <a:xfrm>
            <a:off x="762000" y="3853755"/>
            <a:ext cx="1066800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6" name="Google Shape;766;p34"/>
          <p:cNvSpPr/>
          <p:nvPr/>
        </p:nvSpPr>
        <p:spPr>
          <a:xfrm>
            <a:off x="762000" y="3059459"/>
            <a:ext cx="10668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7" name="Google Shape;767;p34"/>
          <p:cNvSpPr/>
          <p:nvPr/>
        </p:nvSpPr>
        <p:spPr>
          <a:xfrm>
            <a:off x="762000" y="3059459"/>
            <a:ext cx="10668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8" name="Google Shape;768;p34"/>
          <p:cNvSpPr/>
          <p:nvPr/>
        </p:nvSpPr>
        <p:spPr>
          <a:xfrm>
            <a:off x="762000" y="3844230"/>
            <a:ext cx="10668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9" name="Google Shape;769;p34"/>
          <p:cNvSpPr/>
          <p:nvPr/>
        </p:nvSpPr>
        <p:spPr>
          <a:xfrm>
            <a:off x="762000" y="3844230"/>
            <a:ext cx="10668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0" name="Google Shape;770;p34"/>
          <p:cNvSpPr/>
          <p:nvPr/>
        </p:nvSpPr>
        <p:spPr>
          <a:xfrm>
            <a:off x="762000" y="4629001"/>
            <a:ext cx="10668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1" name="Google Shape;771;p34"/>
          <p:cNvSpPr/>
          <p:nvPr/>
        </p:nvSpPr>
        <p:spPr>
          <a:xfrm>
            <a:off x="762000" y="4629001"/>
            <a:ext cx="10668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772" name="Google Shape;772;p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2433637"/>
            <a:ext cx="1409700" cy="578941"/>
          </a:xfrm>
          <a:prstGeom prst="rect">
            <a:avLst/>
          </a:prstGeom>
          <a:noFill/>
          <a:ln>
            <a:noFill/>
          </a:ln>
        </p:spPr>
      </p:pic>
      <p:sp>
        <p:nvSpPr>
          <p:cNvPr id="773" name="Google Shape;773;p34"/>
          <p:cNvSpPr txBox="1"/>
          <p:nvPr/>
        </p:nvSpPr>
        <p:spPr>
          <a:xfrm>
            <a:off x="1857375" y="2427089"/>
            <a:ext cx="9572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https://img.freepik.com/premium-photo/abstract-depiction-artificial-intelligence-with-human-head-composed-data-circuits-glowing-blue-background_670147-111613.jpg</a:t>
            </a:r>
            <a:endParaRPr/>
          </a:p>
        </p:txBody>
      </p:sp>
      <p:sp>
        <p:nvSpPr>
          <p:cNvPr id="774" name="Google Shape;774;p34"/>
          <p:cNvSpPr txBox="1"/>
          <p:nvPr/>
        </p:nvSpPr>
        <p:spPr>
          <a:xfrm>
            <a:off x="1857375" y="2672804"/>
            <a:ext cx="9572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Roboto"/>
                <a:ea typeface="Roboto"/>
                <a:cs typeface="Roboto"/>
                <a:sym typeface="Roboto"/>
              </a:rPr>
              <a:t>www.freepik.com</a:t>
            </a:r>
            <a:endParaRPr/>
          </a:p>
        </p:txBody>
      </p:sp>
      <p:pic>
        <p:nvPicPr>
          <p:cNvPr descr="image.png" id="775" name="Google Shape;775;p3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000" y="3218408"/>
            <a:ext cx="1285875" cy="578941"/>
          </a:xfrm>
          <a:prstGeom prst="rect">
            <a:avLst/>
          </a:prstGeom>
          <a:noFill/>
          <a:ln>
            <a:noFill/>
          </a:ln>
        </p:spPr>
      </p:pic>
      <p:sp>
        <p:nvSpPr>
          <p:cNvPr id="776" name="Google Shape;776;p34"/>
          <p:cNvSpPr txBox="1"/>
          <p:nvPr/>
        </p:nvSpPr>
        <p:spPr>
          <a:xfrm>
            <a:off x="1857375" y="3211859"/>
            <a:ext cx="9572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https://www.cisco.com/c/dam/en/us/solutions/collateral/service-provider/data-center/nw-infra-telco-edge-dc-wp.docx/_jcr_content/renditions/nw-infra-telco-edge-dc-wp_0.png</a:t>
            </a:r>
            <a:endParaRPr/>
          </a:p>
        </p:txBody>
      </p:sp>
      <p:sp>
        <p:nvSpPr>
          <p:cNvPr id="777" name="Google Shape;777;p34"/>
          <p:cNvSpPr txBox="1"/>
          <p:nvPr/>
        </p:nvSpPr>
        <p:spPr>
          <a:xfrm>
            <a:off x="1857375" y="3457575"/>
            <a:ext cx="9572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Roboto"/>
                <a:ea typeface="Roboto"/>
                <a:cs typeface="Roboto"/>
                <a:sym typeface="Roboto"/>
              </a:rPr>
              <a:t>www.cisco.com</a:t>
            </a:r>
            <a:endParaRPr/>
          </a:p>
        </p:txBody>
      </p:sp>
      <p:pic>
        <p:nvPicPr>
          <p:cNvPr descr="image.png" id="778" name="Google Shape;778;p3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62000" y="4003178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779" name="Google Shape;779;p34"/>
          <p:cNvSpPr txBox="1"/>
          <p:nvPr/>
        </p:nvSpPr>
        <p:spPr>
          <a:xfrm>
            <a:off x="1857375" y="3996630"/>
            <a:ext cx="9572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https://miro.medium.com/v2/resize:fit:2000/1*46JX-o6xxMaMmOmTLwyLYQ.png</a:t>
            </a:r>
            <a:endParaRPr/>
          </a:p>
        </p:txBody>
      </p:sp>
      <p:sp>
        <p:nvSpPr>
          <p:cNvPr id="780" name="Google Shape;780;p34"/>
          <p:cNvSpPr txBox="1"/>
          <p:nvPr/>
        </p:nvSpPr>
        <p:spPr>
          <a:xfrm>
            <a:off x="1857375" y="4242345"/>
            <a:ext cx="9572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Roboto"/>
                <a:ea typeface="Roboto"/>
                <a:cs typeface="Roboto"/>
                <a:sym typeface="Roboto"/>
              </a:rPr>
              <a:t>medium.com</a:t>
            </a:r>
            <a:endParaRPr/>
          </a:p>
        </p:txBody>
      </p:sp>
      <p:pic>
        <p:nvPicPr>
          <p:cNvPr descr="image.png" id="781" name="Google Shape;781;p3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62000" y="4887069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782" name="Google Shape;782;p34"/>
          <p:cNvSpPr txBox="1"/>
          <p:nvPr/>
        </p:nvSpPr>
        <p:spPr>
          <a:xfrm>
            <a:off x="1857375" y="4781401"/>
            <a:ext cx="9572625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https://static.vecteezy.com/system/resources/previews/075/996/116/large_2x/woman-hands-and-3d-hologram-of-dashboard-in-digital-transformation-analytics-or-data-research-female-employee-busy-on-futuristic-technology-ui-or-holographic-display-for-analysis-or-statistics-photo.jpg</a:t>
            </a:r>
            <a:endParaRPr/>
          </a:p>
        </p:txBody>
      </p:sp>
      <p:sp>
        <p:nvSpPr>
          <p:cNvPr id="783" name="Google Shape;783;p34"/>
          <p:cNvSpPr txBox="1"/>
          <p:nvPr/>
        </p:nvSpPr>
        <p:spPr>
          <a:xfrm>
            <a:off x="1857375" y="5225206"/>
            <a:ext cx="9572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Roboto"/>
                <a:ea typeface="Roboto"/>
                <a:cs typeface="Roboto"/>
                <a:sym typeface="Roboto"/>
              </a:rPr>
              <a:t>www.vecteezy.com</a:t>
            </a:r>
            <a:endParaRPr/>
          </a:p>
        </p:txBody>
      </p:sp>
      <p:sp>
        <p:nvSpPr>
          <p:cNvPr id="784" name="Google Shape;784;p34"/>
          <p:cNvSpPr txBox="1"/>
          <p:nvPr/>
        </p:nvSpPr>
        <p:spPr>
          <a:xfrm>
            <a:off x="762000" y="571500"/>
            <a:ext cx="112014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Image Sources</a:t>
            </a:r>
            <a:endParaRPr/>
          </a:p>
        </p:txBody>
      </p:sp>
      <p:sp>
        <p:nvSpPr>
          <p:cNvPr id="785" name="Google Shape;785;p34"/>
          <p:cNvSpPr/>
          <p:nvPr/>
        </p:nvSpPr>
        <p:spPr>
          <a:xfrm>
            <a:off x="762000" y="1200150"/>
            <a:ext cx="10668000" cy="28575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